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4" r:id="rId7"/>
    <p:sldId id="261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C4817-E13A-489D-A25A-66DB537AEDBA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2F44E-CB3F-47C9-9274-3F57687978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685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2F44E-CB3F-47C9-9274-3F576879782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708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F0EA04-7E95-4BC8-BFC7-D5E6E4BF6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12F7B7C-5899-DAF9-B1EA-E9A4B337B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D19656-6CE0-9C2F-50FB-550899348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C52C-C26E-49CE-AD38-90CBDD4B9781}" type="datetime1">
              <a:rPr lang="de-DE" smtClean="0"/>
              <a:t>03.12.2025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75C566-6ABC-E116-66D4-F8E41A35F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E0A8C1-660C-59B0-C447-2BC0FB3A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503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671957-012C-232E-E687-F5B2BB40E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CA4092-1B4D-C8A0-AA45-B91DB0E1A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F491CA-6B90-8C23-CEDA-BF5D4552E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C1672-EF5D-4FC1-A74A-4F0EEE7F059D}" type="datetime1">
              <a:rPr lang="de-DE" smtClean="0"/>
              <a:t>03.12.2025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F75BE6-6646-F108-08C5-BC14F0ECD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22AF75-F882-D10E-E550-F6F53480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2279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F497B6-7E84-393F-EF9C-0649768F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EE0DD6-A76A-419C-6160-4F71D598E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227B29-EA58-C79B-7A3A-A75E53E2C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7FDCF-4371-474C-AB3D-6E900F254E24}" type="datetime1">
              <a:rPr lang="de-DE" smtClean="0"/>
              <a:t>03.12.2025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40040B-788B-3871-14FA-AAA65AE9E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FDA11C-FEB9-BA18-6F30-1398B65C0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59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4C1605-79AB-28DF-CB1B-E55F8C75E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FE267C-38C3-72F4-E28D-A8CB1191D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64D45A0-43D7-E021-9EA2-DD19806A8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0869E-0B71-C68E-7A8C-B6969100D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382DA-5CF5-4AEF-9F53-B5875BD886A0}" type="datetime1">
              <a:rPr lang="de-DE" smtClean="0"/>
              <a:t>03.12.2025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AECD98-16C9-1B6B-0D65-533250E00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E94892-D81F-EA7E-C5C3-8A38A6F6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055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49566E-AC0B-00C7-CFC5-3ED42E291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F9047A-0A37-6FDC-8A09-0E626A400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318851-6650-5851-6B3C-61C66FC7A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15AC471-0A0A-3F3E-7313-FAE80F7B62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6B8FB9A-F428-65A0-690A-54BCB6563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1D7CA75-7781-6BC2-6955-53A2B0C03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36556-D228-47FC-A129-5BDB4678A3D7}" type="datetime1">
              <a:rPr lang="de-DE" smtClean="0"/>
              <a:t>03.12.2025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E6AE404-6F36-750C-8FC2-0D3439B2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7DFE652-458E-FD0F-DD95-31E0EB35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5466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0FAD27-9541-CC02-C8CD-5F124297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27066FD-3CE8-9452-7468-6F6A2B7CE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69723-09BC-4E0D-B30D-3AD52F14F301}" type="datetime1">
              <a:rPr lang="de-DE" smtClean="0"/>
              <a:t>03.12.2025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FAD7C5-5D4D-4DCC-5543-0C6E6310D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6C17F3-B6C4-F7D1-7EA8-A56CF02B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6645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64EDB72-B9AD-05BF-14B1-A2B082FA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3792B-A8F8-40A4-B25E-4C514DEEE035}" type="datetime1">
              <a:rPr lang="de-DE" smtClean="0"/>
              <a:t>03.12.2025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126E978-CF79-7742-D4FB-15B059304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A6F71C-59FE-111B-41D6-24D635A4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401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9D4898-2A61-384A-82A4-60A01F286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902B65-4FF9-0A11-3CD6-04A5ED2AA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D9041E8-115B-2B85-88A1-02572553D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4425BB0-D4AF-B61E-F170-5C0F11D76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5D2B-CCFE-4954-86C9-96B539E6E4DA}" type="datetime1">
              <a:rPr lang="de-DE" smtClean="0"/>
              <a:t>03.12.2025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B7E860-56DD-B6D5-A1E2-33D402BF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DEBF38-1C24-C55B-2D2C-6DA39BB73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755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68563B-AECE-FBB1-D7FA-B0D127FDD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881EB42-865A-39DE-3217-B40DF337B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166151E-5FFC-575D-C996-7C0137CE5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62FB82-0E9E-448F-3292-846627E6D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171E-89BF-460C-9E66-1E2C1517FAC3}" type="datetime1">
              <a:rPr lang="de-DE" smtClean="0"/>
              <a:t>03.12.2025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DEA004E-5131-B921-3F9D-2347A0806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DDA3B2-CACF-C9CC-049C-BBFCE28EE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0455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88E530-F146-AADA-0BFB-03A2AB18B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FE60B47-5E81-B356-4E54-FB8A685B5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0A91EA-D703-F59D-BE12-D9281E325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ED4F9-1DA8-43C4-A751-722DA1AFB6D7}" type="datetime1">
              <a:rPr lang="de-DE" smtClean="0"/>
              <a:t>03.12.2025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0849E8-A8B5-67FD-6DDF-F41C1F47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3A5A18-243E-C81A-B340-C2CA5BF2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8872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C5B911E-8AA6-F583-522B-06C20C3B46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4D40EFF-6C6E-8AC7-C651-CF1B0DE2E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77D235-7FF9-D5C0-5AAD-09ECD1931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2CD8-38D1-497C-BF99-4E7D85561763}" type="datetime1">
              <a:rPr lang="de-DE" smtClean="0"/>
              <a:t>03.12.2025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C2A6A9-6780-75BB-935D-7C7A5EFB1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5E1517-9523-3391-A63A-8310663AF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8379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B88C36F-FD8F-E5E0-69AB-6F1868D45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D96D81-00B9-85D5-61EF-60F167DD9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1B0100-0F93-5EA7-F226-617046E53E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872B5-E6B3-4E77-8C5B-32D3BD87F944}" type="datetime1">
              <a:rPr lang="de-DE" smtClean="0"/>
              <a:t>03.12.2025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3E27C2-6E7E-D41E-5B91-061BAADD4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5C6E92-A540-7626-9210-9BD690B06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09C07-968D-4E53-A510-F5CC0821538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055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ocs/transformers/main/en/model_doc/flan-t5" TargetMode="External"/><Relationship Id="rId2" Type="http://schemas.openxmlformats.org/officeDocument/2006/relationships/hyperlink" Target="https://huggingface.co/datasets/fever/fev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openai-community/gpt2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cdn.openai.com/better-language-models/language_models_are_unsupervised_multitask_learners.pdf" TargetMode="External"/><Relationship Id="rId3" Type="http://schemas.openxmlformats.org/officeDocument/2006/relationships/hyperlink" Target="https://doi.org/10.1038/s41586-024-07421-0" TargetMode="External"/><Relationship Id="rId7" Type="http://schemas.openxmlformats.org/officeDocument/2006/relationships/hyperlink" Target="https://arxiv.org/abs/2210.11416" TargetMode="External"/><Relationship Id="rId2" Type="http://schemas.openxmlformats.org/officeDocument/2006/relationships/hyperlink" Target="http://dx.doi.org/10.1145/370315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atasets/fever/fever" TargetMode="External"/><Relationship Id="rId5" Type="http://schemas.openxmlformats.org/officeDocument/2006/relationships/hyperlink" Target="https://arxiv.org/abs/2403.19154" TargetMode="External"/><Relationship Id="rId4" Type="http://schemas.openxmlformats.org/officeDocument/2006/relationships/hyperlink" Target="https://aclanthology.org/2021.acl-long.8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912A10-A11A-0C5E-C102-C25DE85BAB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Uncertainty-Aware Hallucination Detection and Clarifying-Question Policy for LLMs</a:t>
            </a:r>
            <a:endParaRPr lang="de-DE" sz="48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DFA708B-E40D-1390-A3D3-532F70D6A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de-DE" sz="2000" dirty="0"/>
              <a:t>Final </a:t>
            </a:r>
            <a:r>
              <a:rPr lang="de-DE" sz="2000" dirty="0" err="1"/>
              <a:t>Presentation</a:t>
            </a:r>
            <a:r>
              <a:rPr lang="de-DE" sz="2000" dirty="0"/>
              <a:t> NLP Project</a:t>
            </a:r>
          </a:p>
          <a:p>
            <a:r>
              <a:rPr lang="de-DE" sz="2000" dirty="0"/>
              <a:t>Jakob Josef Maisch 2025-82942</a:t>
            </a:r>
          </a:p>
        </p:txBody>
      </p:sp>
    </p:spTree>
    <p:extLst>
      <p:ext uri="{BB962C8B-B14F-4D97-AF65-F5344CB8AC3E}">
        <p14:creationId xmlns:p14="http://schemas.microsoft.com/office/powerpoint/2010/main" val="105833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09EAA-7F41-C61E-58A7-D4A684AE3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2504D1-8BBC-BD1F-7AD2-216700643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LLMs </a:t>
            </a:r>
            <a:r>
              <a:rPr lang="de-DE" sz="2400" dirty="0" err="1"/>
              <a:t>tend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hallucinate</a:t>
            </a:r>
            <a:r>
              <a:rPr lang="de-DE" sz="2400" dirty="0"/>
              <a:t> and </a:t>
            </a:r>
            <a:r>
              <a:rPr lang="de-DE" sz="2400" dirty="0" err="1"/>
              <a:t>give</a:t>
            </a:r>
            <a:r>
              <a:rPr lang="de-DE" sz="2400" dirty="0"/>
              <a:t> </a:t>
            </a:r>
            <a:r>
              <a:rPr lang="de-DE" sz="2400" dirty="0" err="1"/>
              <a:t>wrong</a:t>
            </a:r>
            <a:r>
              <a:rPr lang="de-DE" sz="2400" dirty="0"/>
              <a:t> </a:t>
            </a:r>
            <a:r>
              <a:rPr lang="de-DE" sz="2400" dirty="0" err="1"/>
              <a:t>answers</a:t>
            </a:r>
            <a:r>
              <a:rPr lang="de-DE" sz="2400" dirty="0"/>
              <a:t> </a:t>
            </a:r>
            <a:r>
              <a:rPr lang="de-DE" sz="2400" dirty="0" err="1"/>
              <a:t>or</a:t>
            </a:r>
            <a:r>
              <a:rPr lang="de-DE" sz="2400" dirty="0"/>
              <a:t> an </a:t>
            </a:r>
            <a:r>
              <a:rPr lang="de-DE" sz="2400" dirty="0" err="1"/>
              <a:t>answer</a:t>
            </a:r>
            <a:r>
              <a:rPr lang="de-DE" sz="2400" dirty="0"/>
              <a:t> </a:t>
            </a:r>
            <a:r>
              <a:rPr lang="de-DE" sz="2400" dirty="0" err="1"/>
              <a:t>where</a:t>
            </a:r>
            <a:r>
              <a:rPr lang="de-DE" sz="2400" dirty="0"/>
              <a:t> </a:t>
            </a:r>
            <a:r>
              <a:rPr lang="de-DE" sz="2400" dirty="0" err="1"/>
              <a:t>no</a:t>
            </a:r>
            <a:r>
              <a:rPr lang="de-DE" sz="2400" dirty="0"/>
              <a:t> </a:t>
            </a:r>
            <a:r>
              <a:rPr lang="de-DE" sz="2400" dirty="0" err="1"/>
              <a:t>answer</a:t>
            </a:r>
            <a:r>
              <a:rPr lang="de-DE" sz="2400" dirty="0"/>
              <a:t> </a:t>
            </a:r>
            <a:r>
              <a:rPr lang="de-DE" sz="2400" dirty="0" err="1"/>
              <a:t>should</a:t>
            </a:r>
            <a:r>
              <a:rPr lang="de-DE" sz="2400" dirty="0"/>
              <a:t> </a:t>
            </a:r>
            <a:r>
              <a:rPr lang="de-DE" sz="2400" dirty="0" err="1"/>
              <a:t>be</a:t>
            </a:r>
            <a:r>
              <a:rPr lang="de-DE" sz="2400" dirty="0"/>
              <a:t> possible [1]</a:t>
            </a:r>
          </a:p>
          <a:p>
            <a:r>
              <a:rPr lang="de-DE" sz="2400" dirty="0" err="1"/>
              <a:t>Model‘s</a:t>
            </a:r>
            <a:r>
              <a:rPr lang="de-DE" sz="2400" dirty="0"/>
              <a:t> </a:t>
            </a:r>
            <a:r>
              <a:rPr lang="de-DE" sz="2400" dirty="0" err="1"/>
              <a:t>uncertainty</a:t>
            </a:r>
            <a:r>
              <a:rPr lang="de-DE" sz="2400" dirty="0"/>
              <a:t> in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output</a:t>
            </a:r>
            <a:r>
              <a:rPr lang="de-DE" sz="2400" dirty="0"/>
              <a:t> </a:t>
            </a:r>
            <a:r>
              <a:rPr lang="de-DE" sz="2400" dirty="0" err="1"/>
              <a:t>can</a:t>
            </a:r>
            <a:r>
              <a:rPr lang="de-DE" sz="2400" dirty="0"/>
              <a:t> </a:t>
            </a:r>
            <a:r>
              <a:rPr lang="de-DE" sz="2400" dirty="0" err="1"/>
              <a:t>be</a:t>
            </a:r>
            <a:r>
              <a:rPr lang="de-DE" sz="2400" dirty="0"/>
              <a:t> </a:t>
            </a:r>
            <a:r>
              <a:rPr lang="de-DE" sz="2400" dirty="0" err="1"/>
              <a:t>helpful</a:t>
            </a:r>
            <a:r>
              <a:rPr lang="de-DE" sz="2400" dirty="0"/>
              <a:t> in </a:t>
            </a:r>
            <a:r>
              <a:rPr lang="de-DE" sz="2400" dirty="0" err="1"/>
              <a:t>hallucination</a:t>
            </a:r>
            <a:r>
              <a:rPr lang="de-DE" sz="2400" dirty="0"/>
              <a:t> </a:t>
            </a:r>
            <a:r>
              <a:rPr lang="de-DE" sz="2400" dirty="0" err="1"/>
              <a:t>detection</a:t>
            </a:r>
            <a:r>
              <a:rPr lang="de-DE" sz="2400" dirty="0"/>
              <a:t> [1,2]</a:t>
            </a:r>
          </a:p>
          <a:p>
            <a:r>
              <a:rPr lang="de-DE" sz="2400" dirty="0" err="1"/>
              <a:t>Consequences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</a:t>
            </a:r>
            <a:r>
              <a:rPr lang="de-DE" sz="2400" dirty="0" err="1"/>
              <a:t>detecting</a:t>
            </a:r>
            <a:r>
              <a:rPr lang="de-DE" sz="2400" dirty="0"/>
              <a:t> a </a:t>
            </a:r>
            <a:r>
              <a:rPr lang="de-DE" sz="2400" dirty="0" err="1"/>
              <a:t>hallucination</a:t>
            </a:r>
            <a:r>
              <a:rPr lang="de-DE" sz="2400" dirty="0"/>
              <a:t> </a:t>
            </a:r>
            <a:r>
              <a:rPr lang="de-DE" sz="2400" dirty="0" err="1"/>
              <a:t>are</a:t>
            </a:r>
            <a:r>
              <a:rPr lang="de-DE" sz="2400" dirty="0"/>
              <a:t> not </a:t>
            </a:r>
            <a:r>
              <a:rPr lang="de-DE" sz="2400" dirty="0" err="1"/>
              <a:t>always</a:t>
            </a:r>
            <a:r>
              <a:rPr lang="de-DE" sz="2400" dirty="0"/>
              <a:t> </a:t>
            </a:r>
            <a:r>
              <a:rPr lang="de-DE" sz="2400" dirty="0" err="1"/>
              <a:t>clear</a:t>
            </a:r>
            <a:r>
              <a:rPr lang="de-DE" sz="2400" dirty="0"/>
              <a:t> [3,4]</a:t>
            </a:r>
          </a:p>
          <a:p>
            <a:r>
              <a:rPr lang="de-DE" sz="2400" dirty="0"/>
              <a:t>Goal: Show </a:t>
            </a:r>
            <a:r>
              <a:rPr lang="de-DE" sz="2400" dirty="0" err="1"/>
              <a:t>that</a:t>
            </a:r>
            <a:r>
              <a:rPr lang="de-DE" sz="2400" dirty="0"/>
              <a:t> </a:t>
            </a:r>
            <a:r>
              <a:rPr lang="de-DE" sz="2400" dirty="0" err="1"/>
              <a:t>model</a:t>
            </a:r>
            <a:r>
              <a:rPr lang="de-DE" sz="2400" dirty="0"/>
              <a:t> </a:t>
            </a:r>
            <a:r>
              <a:rPr lang="de-DE" sz="2400" dirty="0" err="1"/>
              <a:t>uncertainty</a:t>
            </a:r>
            <a:r>
              <a:rPr lang="de-DE" sz="2400" dirty="0"/>
              <a:t> </a:t>
            </a:r>
            <a:r>
              <a:rPr lang="de-DE" sz="2400" dirty="0" err="1"/>
              <a:t>signals</a:t>
            </a:r>
            <a:r>
              <a:rPr lang="de-DE" sz="2400" dirty="0"/>
              <a:t> </a:t>
            </a:r>
            <a:r>
              <a:rPr lang="de-DE" sz="2400" dirty="0" err="1"/>
              <a:t>can</a:t>
            </a:r>
            <a:r>
              <a:rPr lang="de-DE" sz="2400" dirty="0"/>
              <a:t> </a:t>
            </a:r>
            <a:r>
              <a:rPr lang="de-DE" sz="2400" dirty="0" err="1"/>
              <a:t>drive</a:t>
            </a:r>
            <a:r>
              <a:rPr lang="de-DE" sz="2400" dirty="0"/>
              <a:t> a </a:t>
            </a:r>
            <a:r>
              <a:rPr lang="de-DE" sz="2400" dirty="0" err="1"/>
              <a:t>useful</a:t>
            </a:r>
            <a:r>
              <a:rPr lang="de-DE" sz="2400" dirty="0"/>
              <a:t> </a:t>
            </a:r>
            <a:r>
              <a:rPr lang="de-DE" sz="2400" dirty="0" err="1"/>
              <a:t>policy</a:t>
            </a:r>
            <a:r>
              <a:rPr lang="de-DE" sz="2400" dirty="0"/>
              <a:t> </a:t>
            </a:r>
            <a:r>
              <a:rPr lang="de-DE" sz="2400" dirty="0" err="1"/>
              <a:t>by</a:t>
            </a:r>
            <a:r>
              <a:rPr lang="de-DE" sz="2400" dirty="0"/>
              <a:t> </a:t>
            </a:r>
            <a:r>
              <a:rPr lang="de-DE" sz="2400" dirty="0" err="1"/>
              <a:t>directly</a:t>
            </a:r>
            <a:r>
              <a:rPr lang="de-DE" sz="2400" dirty="0"/>
              <a:t> </a:t>
            </a:r>
            <a:r>
              <a:rPr lang="de-DE" sz="2400" dirty="0" err="1"/>
              <a:t>linking</a:t>
            </a:r>
            <a:r>
              <a:rPr lang="de-DE" sz="2400" dirty="0"/>
              <a:t> </a:t>
            </a:r>
            <a:r>
              <a:rPr lang="de-DE" sz="2400" dirty="0" err="1"/>
              <a:t>them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</a:t>
            </a:r>
            <a:r>
              <a:rPr lang="de-DE" sz="2400" dirty="0" err="1"/>
              <a:t>user</a:t>
            </a:r>
            <a:r>
              <a:rPr lang="de-DE" sz="2400" dirty="0"/>
              <a:t> </a:t>
            </a:r>
            <a:r>
              <a:rPr lang="de-DE" sz="2400" dirty="0" err="1"/>
              <a:t>interaction</a:t>
            </a:r>
            <a:r>
              <a:rPr lang="de-DE" sz="2400" dirty="0"/>
              <a:t> (</a:t>
            </a:r>
            <a:r>
              <a:rPr lang="de-DE" sz="2400" dirty="0" err="1"/>
              <a:t>answer</a:t>
            </a:r>
            <a:r>
              <a:rPr lang="de-DE" sz="2400" dirty="0"/>
              <a:t> vs. </a:t>
            </a:r>
            <a:r>
              <a:rPr lang="de-DE" sz="2400" dirty="0" err="1"/>
              <a:t>clarify</a:t>
            </a:r>
            <a:r>
              <a:rPr lang="de-DE" sz="2400" dirty="0"/>
              <a:t> vs. </a:t>
            </a:r>
            <a:r>
              <a:rPr lang="de-DE" sz="2400" dirty="0" err="1"/>
              <a:t>abstain</a:t>
            </a:r>
            <a:r>
              <a:rPr lang="de-DE" sz="2400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76A4C4-9A8F-145F-176E-813DAA67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817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75B212-3A6C-B63F-3151-6B11C3C9A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 and Setup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C6544D-0A5A-B65C-0EE7-802A93927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b="1" dirty="0"/>
              <a:t>Dataset: </a:t>
            </a:r>
            <a:r>
              <a:rPr lang="de-DE" sz="2400" dirty="0">
                <a:hlinkClick r:id="rId2"/>
              </a:rPr>
              <a:t>FEVER v1.0</a:t>
            </a:r>
            <a:r>
              <a:rPr lang="de-DE" sz="2400" dirty="0"/>
              <a:t> [5] </a:t>
            </a:r>
            <a:r>
              <a:rPr lang="de-DE" sz="2400" dirty="0" err="1"/>
              <a:t>consisting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claims</a:t>
            </a:r>
            <a:r>
              <a:rPr lang="de-DE" sz="2400" dirty="0"/>
              <a:t> </a:t>
            </a:r>
            <a:r>
              <a:rPr lang="de-DE" sz="2400" dirty="0" err="1"/>
              <a:t>classified</a:t>
            </a:r>
            <a:r>
              <a:rPr lang="de-DE" sz="2400" dirty="0"/>
              <a:t> </a:t>
            </a:r>
            <a:r>
              <a:rPr lang="de-DE" sz="2400" dirty="0" err="1"/>
              <a:t>as</a:t>
            </a:r>
            <a:r>
              <a:rPr lang="de-DE" sz="2400" dirty="0"/>
              <a:t> SUPPORTS, REFUTES, NOT ENOUGH INFO</a:t>
            </a:r>
          </a:p>
          <a:p>
            <a:r>
              <a:rPr lang="de-DE" sz="2400" dirty="0" err="1"/>
              <a:t>Using</a:t>
            </a:r>
            <a:r>
              <a:rPr lang="de-DE" sz="2400" dirty="0"/>
              <a:t> </a:t>
            </a:r>
            <a:r>
              <a:rPr lang="de-DE" sz="2400" dirty="0" err="1"/>
              <a:t>provided</a:t>
            </a:r>
            <a:r>
              <a:rPr lang="de-DE" sz="2400" dirty="0"/>
              <a:t> </a:t>
            </a:r>
            <a:r>
              <a:rPr lang="de-DE" sz="2400" dirty="0" err="1"/>
              <a:t>split</a:t>
            </a:r>
            <a:r>
              <a:rPr lang="de-DE" sz="2400" dirty="0"/>
              <a:t> </a:t>
            </a:r>
            <a:r>
              <a:rPr lang="de-DE" sz="2400" dirty="0" err="1"/>
              <a:t>train</a:t>
            </a:r>
            <a:r>
              <a:rPr lang="de-DE" sz="2400" dirty="0"/>
              <a:t> </a:t>
            </a:r>
            <a:r>
              <a:rPr lang="de-DE" sz="2400" dirty="0" err="1"/>
              <a:t>gives</a:t>
            </a:r>
            <a:r>
              <a:rPr lang="de-DE" sz="2400" dirty="0"/>
              <a:t> 311 431 </a:t>
            </a:r>
            <a:r>
              <a:rPr lang="de-DE" sz="2400" dirty="0" err="1"/>
              <a:t>samples</a:t>
            </a:r>
            <a:endParaRPr lang="de-DE" sz="2400" dirty="0"/>
          </a:p>
          <a:p>
            <a:r>
              <a:rPr lang="de-DE" sz="2400" b="1" dirty="0"/>
              <a:t>LLM: </a:t>
            </a:r>
            <a:r>
              <a:rPr lang="de-DE" sz="2400" dirty="0">
                <a:hlinkClick r:id="rId3"/>
              </a:rPr>
              <a:t>FLAN-T5-(</a:t>
            </a:r>
            <a:r>
              <a:rPr lang="de-DE" sz="2400" dirty="0" err="1">
                <a:hlinkClick r:id="rId3"/>
              </a:rPr>
              <a:t>base</a:t>
            </a:r>
            <a:r>
              <a:rPr lang="de-DE" sz="2400" dirty="0">
                <a:hlinkClick r:id="rId3"/>
              </a:rPr>
              <a:t>/large) </a:t>
            </a:r>
            <a:r>
              <a:rPr lang="de-DE" sz="2400" dirty="0"/>
              <a:t>[6] (250 – 800 Mio. </a:t>
            </a:r>
            <a:r>
              <a:rPr lang="de-DE" sz="2400" dirty="0" err="1"/>
              <a:t>params</a:t>
            </a:r>
            <a:r>
              <a:rPr lang="de-DE" sz="2400" dirty="0"/>
              <a:t> </a:t>
            </a:r>
            <a:r>
              <a:rPr lang="de-DE" sz="2400" dirty="0" err="1"/>
              <a:t>decoder</a:t>
            </a:r>
            <a:r>
              <a:rPr lang="de-DE" sz="2400" dirty="0"/>
              <a:t>-encoder Transformer </a:t>
            </a:r>
            <a:r>
              <a:rPr lang="de-DE" sz="2400" dirty="0" err="1"/>
              <a:t>finetuned</a:t>
            </a:r>
            <a:r>
              <a:rPr lang="de-DE" sz="2400" dirty="0"/>
              <a:t> on a </a:t>
            </a:r>
            <a:r>
              <a:rPr lang="de-DE" sz="2400" dirty="0" err="1"/>
              <a:t>mixture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tasks</a:t>
            </a:r>
            <a:r>
              <a:rPr lang="de-DE" sz="2400" dirty="0"/>
              <a:t>) and </a:t>
            </a:r>
            <a:r>
              <a:rPr lang="de-DE" sz="2400" dirty="0">
                <a:hlinkClick r:id="rId4"/>
              </a:rPr>
              <a:t>GPT2</a:t>
            </a:r>
            <a:r>
              <a:rPr lang="de-DE" sz="2400" dirty="0"/>
              <a:t> [7] (124 Mio. </a:t>
            </a:r>
            <a:r>
              <a:rPr lang="de-DE" sz="2400" dirty="0" err="1"/>
              <a:t>params</a:t>
            </a:r>
            <a:r>
              <a:rPr lang="de-DE" sz="2400" dirty="0"/>
              <a:t> </a:t>
            </a:r>
            <a:r>
              <a:rPr lang="de-DE" sz="2400" dirty="0" err="1"/>
              <a:t>decoder</a:t>
            </a:r>
            <a:r>
              <a:rPr lang="de-DE" sz="2400" dirty="0"/>
              <a:t> Transformer)</a:t>
            </a:r>
          </a:p>
          <a:p>
            <a:r>
              <a:rPr lang="de-DE" sz="2400" b="1" dirty="0"/>
              <a:t>Data Split: </a:t>
            </a:r>
            <a:r>
              <a:rPr lang="de-DE" sz="2400" dirty="0"/>
              <a:t>70% </a:t>
            </a:r>
            <a:r>
              <a:rPr lang="de-DE" sz="2400" dirty="0" err="1"/>
              <a:t>train</a:t>
            </a:r>
            <a:r>
              <a:rPr lang="de-DE" sz="2400" dirty="0"/>
              <a:t> / 15% </a:t>
            </a:r>
            <a:r>
              <a:rPr lang="de-DE" sz="2400" dirty="0" err="1"/>
              <a:t>validation</a:t>
            </a:r>
            <a:r>
              <a:rPr lang="de-DE" sz="2400" dirty="0"/>
              <a:t> / 15% </a:t>
            </a:r>
            <a:r>
              <a:rPr lang="de-DE" sz="2400" dirty="0" err="1"/>
              <a:t>test</a:t>
            </a:r>
            <a:r>
              <a:rPr lang="de-DE" sz="2400" dirty="0"/>
              <a:t> (in total 100 000 </a:t>
            </a:r>
            <a:r>
              <a:rPr lang="de-DE" sz="2400" dirty="0" err="1"/>
              <a:t>samples</a:t>
            </a:r>
            <a:r>
              <a:rPr lang="de-DE" sz="2400" dirty="0"/>
              <a:t>)</a:t>
            </a:r>
          </a:p>
          <a:p>
            <a:r>
              <a:rPr lang="de-DE" sz="2400" b="1" dirty="0"/>
              <a:t>Policy Model: </a:t>
            </a:r>
            <a:r>
              <a:rPr lang="de-DE" sz="2400" dirty="0"/>
              <a:t>Ridge Regression, </a:t>
            </a:r>
            <a:r>
              <a:rPr lang="de-DE" sz="2400" dirty="0" err="1"/>
              <a:t>Neural</a:t>
            </a:r>
            <a:r>
              <a:rPr lang="de-DE" sz="2400" dirty="0"/>
              <a:t> Network, Gradient </a:t>
            </a:r>
            <a:r>
              <a:rPr lang="de-DE" sz="2400" dirty="0" err="1"/>
              <a:t>Boosted</a:t>
            </a:r>
            <a:r>
              <a:rPr lang="de-DE" sz="2400" dirty="0"/>
              <a:t> </a:t>
            </a:r>
            <a:r>
              <a:rPr lang="de-DE" sz="2400" dirty="0" err="1"/>
              <a:t>Tree</a:t>
            </a:r>
            <a:endParaRPr lang="de-DE" sz="24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C361A2-4FA2-4AB3-21AF-4515A2E8E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9266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5008B1-8456-9B43-9917-C7B431F7D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FBD0482-0BFC-D36A-E52B-E57BCD0E37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71556"/>
              </a:xfrm>
            </p:spPr>
            <p:txBody>
              <a:bodyPr>
                <a:normAutofit/>
              </a:bodyPr>
              <a:lstStyle/>
              <a:p>
                <a:r>
                  <a:rPr lang="de-DE" sz="2400" dirty="0"/>
                  <a:t>Ask LLM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label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each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claim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twice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with</a:t>
                </a:r>
                <a:r>
                  <a:rPr lang="de-DE" sz="2400" dirty="0"/>
                  <a:t> and </a:t>
                </a:r>
                <a:r>
                  <a:rPr lang="de-DE" sz="2400" dirty="0" err="1"/>
                  <a:t>without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clarification</a:t>
                </a:r>
                <a:r>
                  <a:rPr lang="de-DE" sz="2400" dirty="0"/>
                  <a:t>)</a:t>
                </a:r>
              </a:p>
              <a:p>
                <a:r>
                  <a:rPr lang="de-DE" sz="2400" dirty="0" err="1"/>
                  <a:t>Simulate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clarification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giving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noisy</a:t>
                </a:r>
                <a:r>
                  <a:rPr lang="de-DE" sz="2400" dirty="0"/>
                  <a:t> (15% </a:t>
                </a:r>
                <a:r>
                  <a:rPr lang="de-DE" sz="2400" dirty="0" err="1"/>
                  <a:t>noise</a:t>
                </a:r>
                <a:r>
                  <a:rPr lang="de-DE" sz="2400" dirty="0"/>
                  <a:t>) </a:t>
                </a:r>
                <a:r>
                  <a:rPr lang="de-DE" sz="2400" dirty="0" err="1"/>
                  <a:t>oracle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reply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model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best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case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upper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bound</a:t>
                </a:r>
                <a:r>
                  <a:rPr lang="de-DE" sz="2400" dirty="0"/>
                  <a:t>)</a:t>
                </a:r>
              </a:p>
              <a:p>
                <a:r>
                  <a:rPr lang="de-DE" sz="2400" dirty="0" err="1"/>
                  <a:t>Measure</a:t>
                </a:r>
                <a:r>
                  <a:rPr lang="de-DE" sz="2400" dirty="0"/>
                  <a:t> 11 </a:t>
                </a:r>
                <a:r>
                  <a:rPr lang="de-DE" sz="2400" dirty="0" err="1"/>
                  <a:t>uncertainty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signals</a:t>
                </a:r>
                <a:r>
                  <a:rPr lang="de-DE" sz="2400" dirty="0"/>
                  <a:t> in </a:t>
                </a:r>
                <a:r>
                  <a:rPr lang="de-DE" sz="2400" dirty="0" err="1"/>
                  <a:t>output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token</a:t>
                </a:r>
                <a:r>
                  <a:rPr lang="de-DE" sz="2400" dirty="0"/>
                  <a:t>-level, </a:t>
                </a:r>
                <a:r>
                  <a:rPr lang="de-DE" sz="2400" dirty="0" err="1"/>
                  <a:t>diversity</a:t>
                </a:r>
                <a:r>
                  <a:rPr lang="de-DE" sz="2400" dirty="0"/>
                  <a:t>, etc.)</a:t>
                </a:r>
              </a:p>
              <a:p>
                <a:r>
                  <a:rPr lang="de-DE" sz="2400" dirty="0" err="1"/>
                  <a:t>Estimate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𝑐𝑜𝑟𝑟𝑒𝑐𝑡</m:t>
                        </m:r>
                      </m:e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</m:oMath>
                </a14:m>
                <a:r>
                  <a:rPr lang="de-DE" sz="2400" dirty="0"/>
                  <a:t> and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𝑐𝑜𝑟𝑟𝑒𝑐𝑡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𝑐𝑙𝑎𝑟𝑖𝑓𝑖𝑒𝑑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using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policy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model</a:t>
                </a:r>
                <a:r>
                  <a:rPr lang="de-DE" sz="2400" dirty="0"/>
                  <a:t> </a:t>
                </a:r>
              </a:p>
              <a:p>
                <a:r>
                  <a:rPr lang="de-DE" sz="2400" dirty="0"/>
                  <a:t>Create </a:t>
                </a:r>
                <a:r>
                  <a:rPr lang="de-DE" sz="2400" dirty="0" err="1"/>
                  <a:t>policy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𝑎𝑐𝑡𝑖𝑜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𝑎𝑛𝑠𝑤𝑒𝑟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𝑐𝑙𝑎𝑟𝑖𝑓𝑦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𝑎𝑏𝑠𝑡𝑎𝑖𝑛</m:t>
                            </m:r>
                          </m:e>
                        </m:d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𝐸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de-DE" sz="2600" b="0" i="1" dirty="0"/>
                  <a:t> </a:t>
                </a:r>
                <a:r>
                  <a:rPr lang="de-DE" sz="2600" dirty="0"/>
                  <a:t>and </a:t>
                </a:r>
                <a:r>
                  <a:rPr lang="de-DE" sz="2600" dirty="0" err="1"/>
                  <a:t>evaluate</a:t>
                </a:r>
                <a:r>
                  <a:rPr lang="de-DE" sz="2600" dirty="0"/>
                  <a:t> on </a:t>
                </a:r>
                <a:r>
                  <a:rPr lang="de-DE" sz="2600" dirty="0" err="1"/>
                  <a:t>test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set</a:t>
                </a:r>
                <a:endParaRPr lang="de-DE" sz="2600" b="0" i="1" dirty="0"/>
              </a:p>
              <a:p>
                <a:pPr marL="0" indent="0">
                  <a:buNone/>
                </a:pPr>
                <a:endParaRPr lang="de-DE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sz="2600" dirty="0"/>
              </a:p>
              <a:p>
                <a:r>
                  <a:rPr lang="de-DE" sz="2400" dirty="0" err="1"/>
                  <a:t>Used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𝑐𝑙𝑎𝑟𝑖𝑓𝑦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sz="2400" dirty="0"/>
                  <a:t> 0.25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𝑤𝑟𝑜𝑛𝑔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sz="2400" dirty="0"/>
                  <a:t> 1</a:t>
                </a:r>
              </a:p>
              <a:p>
                <a:pPr marL="0" indent="0">
                  <a:buNone/>
                </a:pPr>
                <a:endParaRPr lang="de-DE" sz="2600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FBD0482-0BFC-D36A-E52B-E57BCD0E37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71556"/>
              </a:xfrm>
              <a:blipFill>
                <a:blip r:embed="rId2"/>
                <a:stretch>
                  <a:fillRect l="-812" t="-1660" r="-116" b="-63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951F386D-A7FA-AD96-5CFF-9D25934EB65B}"/>
                  </a:ext>
                </a:extLst>
              </p:cNvPr>
              <p:cNvSpPr txBox="1"/>
              <p:nvPr/>
            </p:nvSpPr>
            <p:spPr>
              <a:xfrm>
                <a:off x="1664274" y="4924263"/>
                <a:ext cx="8863452" cy="12971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𝑎𝑛𝑠𝑤𝑒𝑟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𝑐𝑜𝑟𝑟𝑒𝑐𝑡</m:t>
                          </m:r>
                        </m: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𝑐𝑜𝑟𝑟𝑒𝑐𝑡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𝑤𝑟𝑜𝑛𝑔</m:t>
                          </m:r>
                        </m:sub>
                      </m:sSub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𝑐𝑙𝑎𝑟𝑖𝑓𝑦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𝑐𝑜𝑟𝑟𝑒𝑐𝑡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𝑐𝑙𝑎𝑟𝑖𝑓𝑖𝑒𝑑</m:t>
                          </m:r>
                        </m: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𝑐𝑜𝑟𝑟𝑒𝑐𝑡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𝑐𝑙𝑎𝑟𝑖𝑓𝑖𝑒𝑑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𝑤𝑟𝑜𝑛𝑔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𝑐𝑙𝑎𝑟𝑖𝑓𝑦</m:t>
                          </m:r>
                        </m:sub>
                      </m:sSub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𝑎𝑏𝑠𝑡𝑎𝑖𝑛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dirty="0"/>
              </a:p>
              <a:p>
                <a:endParaRPr lang="de-DE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951F386D-A7FA-AD96-5CFF-9D25934EB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274" y="4924263"/>
                <a:ext cx="8863452" cy="12971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476778-4071-8EAA-6EDB-FA5E8F1F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4223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2FD695-363D-8229-B8E0-98244BA1B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94" y="76690"/>
            <a:ext cx="10515600" cy="1325563"/>
          </a:xfrm>
        </p:spPr>
        <p:txBody>
          <a:bodyPr/>
          <a:lstStyle/>
          <a:p>
            <a:r>
              <a:rPr lang="de-DE" dirty="0" err="1"/>
              <a:t>Results</a:t>
            </a:r>
            <a:endParaRPr lang="de-DE" dirty="0"/>
          </a:p>
        </p:txBody>
      </p:sp>
      <p:pic>
        <p:nvPicPr>
          <p:cNvPr id="7" name="Inhaltsplatzhalter 6" descr="Ein Bild, das Diagramm, Reihe, Text, Zahl enthält.&#10;&#10;KI-generierte Inhalte können fehlerhaft sein.">
            <a:extLst>
              <a:ext uri="{FF2B5EF4-FFF2-40B4-BE49-F238E27FC236}">
                <a16:creationId xmlns:a16="http://schemas.microsoft.com/office/drawing/2014/main" id="{2ECB400D-4B45-8228-8028-EF8F64CF9A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42" y="3088337"/>
            <a:ext cx="5446688" cy="3268013"/>
          </a:xfr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E0F1D1-C9EA-0D48-9EF1-4A2CA4B51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5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BCEECCE5-B796-00AE-DDF4-100E3EDD2F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9074942"/>
                  </p:ext>
                </p:extLst>
              </p:nvPr>
            </p:nvGraphicFramePr>
            <p:xfrm>
              <a:off x="232180" y="1079225"/>
              <a:ext cx="11727640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2764">
                      <a:extLst>
                        <a:ext uri="{9D8B030D-6E8A-4147-A177-3AD203B41FA5}">
                          <a16:colId xmlns:a16="http://schemas.microsoft.com/office/drawing/2014/main" val="19864072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2700984914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2888713990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2556472731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1091487907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4164929907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4110219095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464370538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3225867210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31029886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LLM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Policy-Model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 err="1"/>
                            <a:t>Clarification</a:t>
                          </a:r>
                          <a:r>
                            <a:rPr lang="de-DE" sz="1200" dirty="0"/>
                            <a:t> Rate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 err="1"/>
                            <a:t>Accuracy</a:t>
                          </a:r>
                          <a:r>
                            <a:rPr lang="de-DE" sz="1200" dirty="0"/>
                            <a:t> </a:t>
                          </a:r>
                          <a:r>
                            <a:rPr lang="de-DE" sz="1200" dirty="0" err="1"/>
                            <a:t>Answered</a:t>
                          </a:r>
                          <a:r>
                            <a:rPr lang="de-DE" sz="1200" dirty="0"/>
                            <a:t> Questions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F1-Score </a:t>
                          </a:r>
                          <a:r>
                            <a:rPr lang="de-DE" sz="1200" dirty="0" err="1"/>
                            <a:t>Answered</a:t>
                          </a:r>
                          <a:r>
                            <a:rPr lang="de-DE" sz="1200" dirty="0"/>
                            <a:t> Questions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 err="1"/>
                            <a:t>Accuracy</a:t>
                          </a: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F1-Score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Errors </a:t>
                          </a:r>
                          <a:r>
                            <a:rPr lang="de-DE" sz="1200" dirty="0" err="1"/>
                            <a:t>Prevented</a:t>
                          </a:r>
                          <a:r>
                            <a:rPr lang="de-DE" sz="1200" dirty="0"/>
                            <a:t> Per </a:t>
                          </a:r>
                          <a:r>
                            <a:rPr lang="de-DE" sz="1200" dirty="0" err="1"/>
                            <a:t>Clarification</a:t>
                          </a: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 err="1"/>
                            <a:t>Accuracy</a:t>
                          </a:r>
                          <a:r>
                            <a:rPr lang="de-DE" sz="1200" dirty="0"/>
                            <a:t> Always </a:t>
                          </a:r>
                          <a:r>
                            <a:rPr lang="de-DE" sz="1200" dirty="0" err="1"/>
                            <a:t>Answer</a:t>
                          </a: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 err="1"/>
                            <a:t>Accuracy</a:t>
                          </a:r>
                          <a:r>
                            <a:rPr lang="de-DE" sz="1200" dirty="0"/>
                            <a:t> Always Clarify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175264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FLAN-T5-base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Gradient </a:t>
                          </a:r>
                          <a:r>
                            <a:rPr lang="de-DE" sz="1200" dirty="0" err="1"/>
                            <a:t>Boosted</a:t>
                          </a:r>
                          <a:r>
                            <a:rPr lang="de-DE" sz="1200" dirty="0"/>
                            <a:t> </a:t>
                          </a:r>
                          <a:r>
                            <a:rPr lang="de-DE" sz="1200" dirty="0" err="1"/>
                            <a:t>Tree</a:t>
                          </a: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63.53%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68.66% </a:t>
                          </a:r>
                          <a14:m>
                            <m:oMath xmlns:m="http://schemas.openxmlformats.org/officeDocument/2006/math"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de-DE" sz="1200" dirty="0"/>
                            <a:t> 79.87%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0.39 </a:t>
                          </a:r>
                          <a14:m>
                            <m:oMath xmlns:m="http://schemas.openxmlformats.org/officeDocument/2006/math"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→ </m:t>
                              </m:r>
                            </m:oMath>
                          </a14:m>
                          <a:r>
                            <a:rPr lang="de-DE" sz="1200" dirty="0"/>
                            <a:t>0.47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68.66% </a:t>
                          </a:r>
                          <a14:m>
                            <m:oMath xmlns:m="http://schemas.openxmlformats.org/officeDocument/2006/math"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r>
                            <a:rPr lang="de-DE" sz="1200" dirty="0"/>
                            <a:t> 62.27%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0.39</a:t>
                          </a:r>
                          <a14:m>
                            <m:oMath xmlns:m="http://schemas.openxmlformats.org/officeDocument/2006/math">
                              <m:r>
                                <a:rPr lang="de-DE" sz="12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→ </m:t>
                              </m:r>
                            </m:oMath>
                          </a14:m>
                          <a:r>
                            <a:rPr lang="de-DE" sz="1200" dirty="0"/>
                            <a:t>0.36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0.17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57.57%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75.21%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68436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FLAN-T5-large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Ridge Regression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0.00%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26.80% </a:t>
                          </a:r>
                          <a14:m>
                            <m:oMath xmlns:m="http://schemas.openxmlformats.org/officeDocument/2006/math"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→ </m:t>
                              </m:r>
                            </m:oMath>
                          </a14:m>
                          <a:r>
                            <a:rPr lang="de-DE" sz="1200" dirty="0"/>
                            <a:t>93.46%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0.18 </a:t>
                          </a:r>
                          <a14:m>
                            <m:oMath xmlns:m="http://schemas.openxmlformats.org/officeDocument/2006/math"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→ </m:t>
                              </m:r>
                            </m:oMath>
                          </a14:m>
                          <a:r>
                            <a:rPr lang="de-DE" sz="1200" dirty="0"/>
                            <a:t>0.61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26.80% </a:t>
                          </a:r>
                          <a14:m>
                            <m:oMath xmlns:m="http://schemas.openxmlformats.org/officeDocument/2006/math"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→ </m:t>
                              </m:r>
                            </m:oMath>
                          </a14:m>
                          <a:r>
                            <a:rPr lang="de-DE" sz="1200" dirty="0"/>
                            <a:t>9.53%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0.18 </a:t>
                          </a:r>
                          <a14:m>
                            <m:oMath xmlns:m="http://schemas.openxmlformats.org/officeDocument/2006/math"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→ </m:t>
                              </m:r>
                            </m:oMath>
                          </a14:m>
                          <a:r>
                            <a:rPr lang="de-DE" sz="1200" dirty="0"/>
                            <a:t>0.06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26.80%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39.00%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507208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GPT2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Gradient </a:t>
                          </a:r>
                          <a:r>
                            <a:rPr lang="de-DE" sz="1200" dirty="0" err="1"/>
                            <a:t>Boosted</a:t>
                          </a:r>
                          <a:r>
                            <a:rPr lang="de-DE" sz="1200" dirty="0"/>
                            <a:t> </a:t>
                          </a:r>
                          <a:r>
                            <a:rPr lang="de-DE" sz="1200" dirty="0" err="1"/>
                            <a:t>Tree</a:t>
                          </a: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0.00%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62.13% </a:t>
                          </a:r>
                          <a14:m>
                            <m:oMath xmlns:m="http://schemas.openxmlformats.org/officeDocument/2006/math"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→ </m:t>
                              </m:r>
                            </m:oMath>
                          </a14:m>
                          <a:r>
                            <a:rPr lang="de-DE" sz="1200" dirty="0"/>
                            <a:t>62.31%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0.26 </a:t>
                          </a:r>
                          <a14:m>
                            <m:oMath xmlns:m="http://schemas.openxmlformats.org/officeDocument/2006/math"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→ </m:t>
                              </m:r>
                            </m:oMath>
                          </a14:m>
                          <a:r>
                            <a:rPr lang="de-DE" sz="1200" dirty="0"/>
                            <a:t>0.26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62.13% </a:t>
                          </a:r>
                          <a14:m>
                            <m:oMath xmlns:m="http://schemas.openxmlformats.org/officeDocument/2006/math"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→ </m:t>
                              </m:r>
                            </m:oMath>
                          </a14:m>
                          <a:r>
                            <a:rPr lang="de-DE" sz="1200" dirty="0"/>
                            <a:t>56.20%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0.26 </a:t>
                          </a:r>
                          <a14:m>
                            <m:oMath xmlns:m="http://schemas.openxmlformats.org/officeDocument/2006/math"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→ </m:t>
                              </m:r>
                            </m:oMath>
                          </a14:m>
                          <a:r>
                            <a:rPr lang="de-DE" sz="1200" dirty="0"/>
                            <a:t>0.24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62.13%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62.13%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62666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BCEECCE5-B796-00AE-DDF4-100E3EDD2F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9074942"/>
                  </p:ext>
                </p:extLst>
              </p:nvPr>
            </p:nvGraphicFramePr>
            <p:xfrm>
              <a:off x="232180" y="1079225"/>
              <a:ext cx="11727640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72764">
                      <a:extLst>
                        <a:ext uri="{9D8B030D-6E8A-4147-A177-3AD203B41FA5}">
                          <a16:colId xmlns:a16="http://schemas.microsoft.com/office/drawing/2014/main" val="19864072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2700984914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2888713990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2556472731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1091487907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4164929907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4110219095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464370538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3225867210"/>
                        </a:ext>
                      </a:extLst>
                    </a:gridCol>
                    <a:gridCol w="1172764">
                      <a:extLst>
                        <a:ext uri="{9D8B030D-6E8A-4147-A177-3AD203B41FA5}">
                          <a16:colId xmlns:a16="http://schemas.microsoft.com/office/drawing/2014/main" val="3102988648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LLM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Policy-Model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 err="1"/>
                            <a:t>Clarification</a:t>
                          </a:r>
                          <a:r>
                            <a:rPr lang="de-DE" sz="1200" dirty="0"/>
                            <a:t> Rate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 err="1"/>
                            <a:t>Accuracy</a:t>
                          </a:r>
                          <a:r>
                            <a:rPr lang="de-DE" sz="1200" dirty="0"/>
                            <a:t> </a:t>
                          </a:r>
                          <a:r>
                            <a:rPr lang="de-DE" sz="1200" dirty="0" err="1"/>
                            <a:t>Answered</a:t>
                          </a:r>
                          <a:r>
                            <a:rPr lang="de-DE" sz="1200" dirty="0"/>
                            <a:t> Questions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F1-Score </a:t>
                          </a:r>
                          <a:r>
                            <a:rPr lang="de-DE" sz="1200" dirty="0" err="1"/>
                            <a:t>Answered</a:t>
                          </a:r>
                          <a:r>
                            <a:rPr lang="de-DE" sz="1200" dirty="0"/>
                            <a:t> Questions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 err="1"/>
                            <a:t>Accuracy</a:t>
                          </a: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F1-Score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Errors </a:t>
                          </a:r>
                          <a:r>
                            <a:rPr lang="de-DE" sz="1200" dirty="0" err="1"/>
                            <a:t>Prevented</a:t>
                          </a:r>
                          <a:r>
                            <a:rPr lang="de-DE" sz="1200" dirty="0"/>
                            <a:t> Per </a:t>
                          </a:r>
                          <a:r>
                            <a:rPr lang="de-DE" sz="1200" dirty="0" err="1"/>
                            <a:t>Clarification</a:t>
                          </a: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 err="1"/>
                            <a:t>Accuracy</a:t>
                          </a:r>
                          <a:r>
                            <a:rPr lang="de-DE" sz="1200" dirty="0"/>
                            <a:t> Always </a:t>
                          </a:r>
                          <a:r>
                            <a:rPr lang="de-DE" sz="1200" dirty="0" err="1"/>
                            <a:t>Answer</a:t>
                          </a: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 err="1"/>
                            <a:t>Accuracy</a:t>
                          </a:r>
                          <a:r>
                            <a:rPr lang="de-DE" sz="1200" dirty="0"/>
                            <a:t> Always Clarify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1752647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FLAN-T5-base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Gradient </a:t>
                          </a:r>
                          <a:r>
                            <a:rPr lang="de-DE" sz="1200" dirty="0" err="1"/>
                            <a:t>Boosted</a:t>
                          </a:r>
                          <a:r>
                            <a:rPr lang="de-DE" sz="1200" dirty="0"/>
                            <a:t> </a:t>
                          </a:r>
                          <a:r>
                            <a:rPr lang="de-DE" sz="1200" dirty="0" err="1"/>
                            <a:t>Tree</a:t>
                          </a: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63.53%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99482" t="-140789" r="-600518" b="-2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1563" t="-140789" r="-503646" b="-2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1563" t="-140789" r="-403646" b="-2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98446" t="-140789" r="-301554" b="-2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0.17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57.57%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75.21%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684367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FLAN-T5-large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Ridge Regression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0.00%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99482" t="-244000" r="-600518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1563" t="-244000" r="-503646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1563" t="-244000" r="-403646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98446" t="-244000" r="-301554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26.80%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39.00%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507208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GPT2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Gradient </a:t>
                          </a:r>
                          <a:r>
                            <a:rPr lang="de-DE" sz="1200" dirty="0" err="1"/>
                            <a:t>Boosted</a:t>
                          </a:r>
                          <a:r>
                            <a:rPr lang="de-DE" sz="1200" dirty="0"/>
                            <a:t> </a:t>
                          </a:r>
                          <a:r>
                            <a:rPr lang="de-DE" sz="1200" dirty="0" err="1"/>
                            <a:t>Tree</a:t>
                          </a:r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0.00%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99482" t="-344000" r="-600518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1563" t="-344000" r="-503646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1563" t="-344000" r="-403646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98446" t="-344000" r="-301554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62.13%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62.13%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626669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5" name="Grafik 14" descr="Ein Bild, das Diagramm, Reihe, Text enthält.&#10;&#10;KI-generierte Inhalte können fehlerhaft sein.">
            <a:extLst>
              <a:ext uri="{FF2B5EF4-FFF2-40B4-BE49-F238E27FC236}">
                <a16:creationId xmlns:a16="http://schemas.microsoft.com/office/drawing/2014/main" id="{AA6A4C70-3343-D631-88D3-2C7962AC6E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88336"/>
            <a:ext cx="5446688" cy="3268013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8CF3EACC-5549-FB8B-F0C6-738C276C576C}"/>
              </a:ext>
            </a:extLst>
          </p:cNvPr>
          <p:cNvSpPr txBox="1"/>
          <p:nvPr/>
        </p:nvSpPr>
        <p:spPr>
          <a:xfrm>
            <a:off x="340065" y="6248147"/>
            <a:ext cx="75377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* </a:t>
            </a:r>
            <a:r>
              <a:rPr lang="de-DE" sz="1200" dirty="0" err="1"/>
              <a:t>Uncertainty</a:t>
            </a:r>
            <a:r>
              <a:rPr lang="de-DE" sz="1200" dirty="0"/>
              <a:t> in </a:t>
            </a:r>
            <a:r>
              <a:rPr lang="de-DE" sz="1200" dirty="0" err="1"/>
              <a:t>figures</a:t>
            </a:r>
            <a:r>
              <a:rPr lang="de-DE" sz="1200" dirty="0"/>
              <a:t> </a:t>
            </a:r>
            <a:r>
              <a:rPr lang="de-DE" sz="1200" dirty="0" err="1"/>
              <a:t>is</a:t>
            </a:r>
            <a:r>
              <a:rPr lang="de-DE" sz="1200" dirty="0"/>
              <a:t>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mean</a:t>
            </a:r>
            <a:r>
              <a:rPr lang="de-DE" sz="1200" dirty="0"/>
              <a:t> </a:t>
            </a:r>
            <a:r>
              <a:rPr lang="de-DE" sz="1200" dirty="0" err="1"/>
              <a:t>of</a:t>
            </a:r>
            <a:r>
              <a:rPr lang="de-DE" sz="1200" dirty="0"/>
              <a:t>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rescaled</a:t>
            </a:r>
            <a:r>
              <a:rPr lang="de-DE" sz="1200" dirty="0"/>
              <a:t> </a:t>
            </a:r>
            <a:r>
              <a:rPr lang="de-DE" sz="1200" dirty="0" err="1"/>
              <a:t>uncertainty</a:t>
            </a:r>
            <a:r>
              <a:rPr lang="de-DE" sz="1200" dirty="0"/>
              <a:t> </a:t>
            </a:r>
            <a:r>
              <a:rPr lang="de-DE" sz="1200" dirty="0" err="1"/>
              <a:t>features</a:t>
            </a:r>
            <a:endParaRPr lang="de-DE" sz="1200" dirty="0"/>
          </a:p>
          <a:p>
            <a:r>
              <a:rPr lang="de-DE" sz="1200" dirty="0"/>
              <a:t>** Value </a:t>
            </a:r>
            <a:r>
              <a:rPr lang="de-DE" sz="1200" dirty="0" err="1"/>
              <a:t>changes</a:t>
            </a:r>
            <a:r>
              <a:rPr lang="de-DE" sz="1200" dirty="0"/>
              <a:t> in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table</a:t>
            </a:r>
            <a:r>
              <a:rPr lang="de-DE" sz="1200" dirty="0"/>
              <a:t> </a:t>
            </a:r>
            <a:r>
              <a:rPr lang="de-DE" sz="1200" dirty="0" err="1"/>
              <a:t>represent</a:t>
            </a:r>
            <a:r>
              <a:rPr lang="de-DE" sz="1200" dirty="0"/>
              <a:t>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comparison</a:t>
            </a:r>
            <a:r>
              <a:rPr lang="de-DE" sz="1200" dirty="0"/>
              <a:t>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random</a:t>
            </a:r>
            <a:r>
              <a:rPr lang="de-DE" sz="1200" dirty="0"/>
              <a:t> </a:t>
            </a:r>
            <a:r>
              <a:rPr lang="de-DE" sz="1200" dirty="0" err="1"/>
              <a:t>clarifications</a:t>
            </a:r>
            <a:r>
              <a:rPr lang="de-DE" sz="1200" dirty="0"/>
              <a:t> </a:t>
            </a:r>
            <a:r>
              <a:rPr lang="de-DE" sz="1200" dirty="0" err="1"/>
              <a:t>with</a:t>
            </a:r>
            <a:r>
              <a:rPr lang="de-DE" sz="1200" dirty="0"/>
              <a:t> </a:t>
            </a:r>
            <a:r>
              <a:rPr lang="de-DE" sz="1200" dirty="0" err="1"/>
              <a:t>the</a:t>
            </a:r>
            <a:r>
              <a:rPr lang="de-DE" sz="1200" dirty="0"/>
              <a:t> same </a:t>
            </a:r>
            <a:r>
              <a:rPr lang="de-DE" sz="1200" dirty="0" err="1"/>
              <a:t>clarification</a:t>
            </a:r>
            <a:r>
              <a:rPr lang="de-DE" sz="1200" dirty="0"/>
              <a:t> rate</a:t>
            </a:r>
          </a:p>
          <a:p>
            <a:r>
              <a:rPr lang="de-DE" sz="1200" dirty="0"/>
              <a:t>*** All </a:t>
            </a:r>
            <a:r>
              <a:rPr lang="de-DE" sz="1200" dirty="0" err="1"/>
              <a:t>Figures</a:t>
            </a:r>
            <a:r>
              <a:rPr lang="de-DE" sz="1200" dirty="0"/>
              <a:t> </a:t>
            </a:r>
            <a:r>
              <a:rPr lang="de-DE" sz="1200" dirty="0" err="1"/>
              <a:t>based</a:t>
            </a:r>
            <a:r>
              <a:rPr lang="de-DE" sz="1200" dirty="0"/>
              <a:t> on FLAN-T5-base</a:t>
            </a:r>
          </a:p>
        </p:txBody>
      </p:sp>
    </p:spTree>
    <p:extLst>
      <p:ext uri="{BB962C8B-B14F-4D97-AF65-F5344CB8AC3E}">
        <p14:creationId xmlns:p14="http://schemas.microsoft.com/office/powerpoint/2010/main" val="1782011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449CE-E79E-5591-C4EE-CFF0370DA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1165E3F-E3AC-1A7B-A5A4-D1DAB26607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366536" cy="4351338"/>
              </a:xfrm>
            </p:spPr>
            <p:txBody>
              <a:bodyPr>
                <a:normAutofit fontScale="32500" lnSpcReduction="20000"/>
              </a:bodyPr>
              <a:lstStyle/>
              <a:p>
                <a:r>
                  <a:rPr lang="de-DE" sz="6200" dirty="0"/>
                  <a:t>Model </a:t>
                </a:r>
                <a:r>
                  <a:rPr lang="de-DE" sz="6200" dirty="0" err="1"/>
                  <a:t>is</a:t>
                </a:r>
                <a:r>
                  <a:rPr lang="de-DE" sz="6200" dirty="0"/>
                  <a:t> </a:t>
                </a:r>
                <a:r>
                  <a:rPr lang="de-DE" sz="6200" dirty="0" err="1"/>
                  <a:t>able</a:t>
                </a:r>
                <a:r>
                  <a:rPr lang="de-DE" sz="6200" dirty="0"/>
                  <a:t> </a:t>
                </a:r>
                <a:r>
                  <a:rPr lang="de-DE" sz="6200" dirty="0" err="1"/>
                  <a:t>to</a:t>
                </a:r>
                <a:r>
                  <a:rPr lang="de-DE" sz="6200" dirty="0"/>
                  <a:t> </a:t>
                </a:r>
                <a:r>
                  <a:rPr lang="de-DE" sz="6200" dirty="0" err="1"/>
                  <a:t>improve</a:t>
                </a:r>
                <a:r>
                  <a:rPr lang="de-DE" sz="6200" dirty="0"/>
                  <a:t> </a:t>
                </a:r>
                <a:r>
                  <a:rPr lang="de-DE" sz="6200" dirty="0" err="1"/>
                  <a:t>accuracy</a:t>
                </a:r>
                <a:r>
                  <a:rPr lang="de-DE" sz="6200" dirty="0"/>
                  <a:t> and F1-Score on </a:t>
                </a:r>
                <a:r>
                  <a:rPr lang="de-DE" sz="6200" dirty="0" err="1"/>
                  <a:t>answered</a:t>
                </a:r>
                <a:r>
                  <a:rPr lang="de-DE" sz="6200" dirty="0"/>
                  <a:t> </a:t>
                </a:r>
                <a:r>
                  <a:rPr lang="de-DE" sz="6200" dirty="0" err="1"/>
                  <a:t>questions</a:t>
                </a:r>
                <a:r>
                  <a:rPr lang="de-DE" sz="6200" dirty="0"/>
                  <a:t> </a:t>
                </a:r>
                <a:r>
                  <a:rPr lang="de-DE" sz="6200" dirty="0" err="1"/>
                  <a:t>significantly</a:t>
                </a:r>
                <a:r>
                  <a:rPr lang="de-DE" sz="6200" dirty="0"/>
                  <a:t> </a:t>
                </a:r>
                <a:r>
                  <a:rPr lang="de-DE" sz="6200" dirty="0" err="1"/>
                  <a:t>compared</a:t>
                </a:r>
                <a:r>
                  <a:rPr lang="de-DE" sz="6200" dirty="0"/>
                  <a:t> </a:t>
                </a:r>
                <a:r>
                  <a:rPr lang="de-DE" sz="6200" dirty="0" err="1"/>
                  <a:t>to</a:t>
                </a:r>
                <a:r>
                  <a:rPr lang="de-DE" sz="6200" dirty="0"/>
                  <a:t> </a:t>
                </a:r>
                <a:r>
                  <a:rPr lang="de-DE" sz="6200" dirty="0" err="1"/>
                  <a:t>random</a:t>
                </a:r>
                <a:r>
                  <a:rPr lang="de-DE" sz="6200" dirty="0"/>
                  <a:t> </a:t>
                </a:r>
                <a:r>
                  <a:rPr lang="de-DE" sz="6200" dirty="0" err="1"/>
                  <a:t>clarifications</a:t>
                </a:r>
                <a:endParaRPr lang="de-DE" sz="6200" dirty="0"/>
              </a:p>
              <a:p>
                <a:r>
                  <a:rPr lang="de-DE" sz="6200" dirty="0" err="1"/>
                  <a:t>If</a:t>
                </a:r>
                <a:r>
                  <a:rPr lang="de-DE" sz="6200" dirty="0"/>
                  <a:t> </a:t>
                </a:r>
                <a:r>
                  <a:rPr lang="de-DE" sz="6200" dirty="0" err="1"/>
                  <a:t>counting</a:t>
                </a:r>
                <a:r>
                  <a:rPr lang="de-DE" sz="6200" dirty="0"/>
                  <a:t> </a:t>
                </a:r>
                <a:r>
                  <a:rPr lang="de-DE" sz="6200" dirty="0" err="1"/>
                  <a:t>abstentions</a:t>
                </a:r>
                <a:r>
                  <a:rPr lang="de-DE" sz="6200" dirty="0"/>
                  <a:t> </a:t>
                </a:r>
                <a:r>
                  <a:rPr lang="de-DE" sz="6200" dirty="0" err="1"/>
                  <a:t>as</a:t>
                </a:r>
                <a:r>
                  <a:rPr lang="de-DE" sz="6200" dirty="0"/>
                  <a:t> </a:t>
                </a:r>
                <a:r>
                  <a:rPr lang="de-DE" sz="6200" dirty="0" err="1"/>
                  <a:t>wrong</a:t>
                </a:r>
                <a:r>
                  <a:rPr lang="de-DE" sz="6200" dirty="0"/>
                  <a:t> </a:t>
                </a:r>
                <a:r>
                  <a:rPr lang="de-DE" sz="6200" dirty="0" err="1"/>
                  <a:t>we</a:t>
                </a:r>
                <a:r>
                  <a:rPr lang="de-DE" sz="6200" dirty="0"/>
                  <a:t> still perform </a:t>
                </a:r>
                <a:r>
                  <a:rPr lang="de-DE" sz="6200" dirty="0" err="1"/>
                  <a:t>better</a:t>
                </a:r>
                <a:r>
                  <a:rPr lang="de-DE" sz="6200" dirty="0"/>
                  <a:t> </a:t>
                </a:r>
                <a:r>
                  <a:rPr lang="de-DE" sz="6200" dirty="0" err="1"/>
                  <a:t>than</a:t>
                </a:r>
                <a:r>
                  <a:rPr lang="de-DE" sz="6200" dirty="0"/>
                  <a:t> </a:t>
                </a:r>
                <a:r>
                  <a:rPr lang="de-DE" sz="6200" dirty="0" err="1"/>
                  <a:t>answering</a:t>
                </a:r>
                <a:r>
                  <a:rPr lang="de-DE" sz="6200" dirty="0"/>
                  <a:t> </a:t>
                </a:r>
                <a:r>
                  <a:rPr lang="de-DE" sz="6200" dirty="0" err="1"/>
                  <a:t>every</a:t>
                </a:r>
                <a:r>
                  <a:rPr lang="de-DE" sz="6200" dirty="0"/>
                  <a:t> </a:t>
                </a:r>
                <a:r>
                  <a:rPr lang="de-DE" sz="6200" dirty="0" err="1"/>
                  <a:t>question</a:t>
                </a:r>
                <a:r>
                  <a:rPr lang="de-DE" sz="6200" dirty="0"/>
                  <a:t>, but not </a:t>
                </a:r>
                <a:r>
                  <a:rPr lang="de-DE" sz="6200" dirty="0" err="1"/>
                  <a:t>than</a:t>
                </a:r>
                <a:r>
                  <a:rPr lang="de-DE" sz="6200" dirty="0"/>
                  <a:t> </a:t>
                </a:r>
                <a:r>
                  <a:rPr lang="de-DE" sz="6200" dirty="0" err="1"/>
                  <a:t>random</a:t>
                </a:r>
                <a:r>
                  <a:rPr lang="de-DE" sz="6200" dirty="0"/>
                  <a:t> </a:t>
                </a:r>
                <a:r>
                  <a:rPr lang="de-DE" sz="6200" dirty="0" err="1"/>
                  <a:t>clarifications</a:t>
                </a:r>
                <a:endParaRPr lang="de-DE" sz="6200" dirty="0"/>
              </a:p>
              <a:p>
                <a:r>
                  <a:rPr lang="de-DE" sz="6200" dirty="0"/>
                  <a:t>As </a:t>
                </a:r>
                <a:r>
                  <a:rPr lang="de-DE" sz="6200" dirty="0" err="1"/>
                  <a:t>expected</a:t>
                </a:r>
                <a:r>
                  <a:rPr lang="de-DE" sz="6200" dirty="0"/>
                  <a:t> </a:t>
                </a:r>
                <a:r>
                  <a:rPr lang="de-DE" sz="6200" dirty="0" err="1"/>
                  <a:t>we</a:t>
                </a:r>
                <a:r>
                  <a:rPr lang="de-DE" sz="6200" dirty="0"/>
                  <a:t> </a:t>
                </a:r>
                <a:r>
                  <a:rPr lang="de-DE" sz="6200" dirty="0" err="1"/>
                  <a:t>tend</a:t>
                </a:r>
                <a:r>
                  <a:rPr lang="de-DE" sz="6200" dirty="0"/>
                  <a:t> </a:t>
                </a:r>
                <a:r>
                  <a:rPr lang="de-DE" sz="6200" dirty="0" err="1"/>
                  <a:t>to</a:t>
                </a:r>
                <a:r>
                  <a:rPr lang="de-DE" sz="6200" dirty="0"/>
                  <a:t> </a:t>
                </a:r>
                <a:r>
                  <a:rPr lang="de-DE" sz="6200" dirty="0" err="1"/>
                  <a:t>answer</a:t>
                </a:r>
                <a:r>
                  <a:rPr lang="de-DE" sz="6200" dirty="0"/>
                  <a:t> for </a:t>
                </a:r>
                <a:r>
                  <a:rPr lang="de-DE" sz="6200" dirty="0" err="1"/>
                  <a:t>low</a:t>
                </a:r>
                <a:r>
                  <a:rPr lang="de-DE" sz="6200" dirty="0"/>
                  <a:t> </a:t>
                </a:r>
                <a:r>
                  <a:rPr lang="de-DE" sz="6200" dirty="0" err="1"/>
                  <a:t>uncertainty</a:t>
                </a:r>
                <a:r>
                  <a:rPr lang="de-DE" sz="6200" dirty="0"/>
                  <a:t>, </a:t>
                </a:r>
                <a:r>
                  <a:rPr lang="de-DE" sz="6200" dirty="0" err="1"/>
                  <a:t>clarify</a:t>
                </a:r>
                <a:r>
                  <a:rPr lang="de-DE" sz="6200" dirty="0"/>
                  <a:t> for medium </a:t>
                </a:r>
                <a:r>
                  <a:rPr lang="de-DE" sz="6200" dirty="0" err="1"/>
                  <a:t>uncertainty</a:t>
                </a:r>
                <a:r>
                  <a:rPr lang="de-DE" sz="6200" dirty="0"/>
                  <a:t> and </a:t>
                </a:r>
                <a:r>
                  <a:rPr lang="de-DE" sz="6200" dirty="0" err="1"/>
                  <a:t>abstain</a:t>
                </a:r>
                <a:r>
                  <a:rPr lang="de-DE" sz="6200" dirty="0"/>
                  <a:t> for high </a:t>
                </a:r>
                <a:r>
                  <a:rPr lang="de-DE" sz="6200" dirty="0" err="1"/>
                  <a:t>uncertainty</a:t>
                </a:r>
                <a:endParaRPr lang="de-DE" sz="6200" dirty="0"/>
              </a:p>
              <a:p>
                <a:r>
                  <a:rPr lang="de-DE" sz="6200" dirty="0" err="1"/>
                  <a:t>Results</a:t>
                </a:r>
                <a:r>
                  <a:rPr lang="de-DE" sz="6200" dirty="0"/>
                  <a:t> for FLAN-T5-large and GPT2 not </a:t>
                </a:r>
                <a:r>
                  <a:rPr lang="de-DE" sz="6200" dirty="0" err="1"/>
                  <a:t>as</a:t>
                </a:r>
                <a:r>
                  <a:rPr lang="de-DE" sz="6200" dirty="0"/>
                  <a:t> promising</a:t>
                </a:r>
              </a:p>
              <a:p>
                <a:r>
                  <a:rPr lang="de-DE" sz="6200" dirty="0" err="1"/>
                  <a:t>Clarification</a:t>
                </a:r>
                <a:r>
                  <a:rPr lang="de-DE" sz="6200" dirty="0"/>
                  <a:t> </a:t>
                </a:r>
                <a:r>
                  <a:rPr lang="de-DE" sz="6200" dirty="0" err="1"/>
                  <a:t>costs</a:t>
                </a:r>
                <a:r>
                  <a:rPr lang="de-DE" sz="6200" dirty="0"/>
                  <a:t> </a:t>
                </a:r>
                <a:r>
                  <a:rPr lang="de-DE" sz="6200" dirty="0" err="1"/>
                  <a:t>highly</a:t>
                </a:r>
                <a:r>
                  <a:rPr lang="de-DE" sz="6200" dirty="0"/>
                  <a:t> </a:t>
                </a:r>
                <a:r>
                  <a:rPr lang="de-DE" sz="6200" dirty="0" err="1"/>
                  <a:t>influence</a:t>
                </a:r>
                <a:r>
                  <a:rPr lang="de-DE" sz="6200" dirty="0"/>
                  <a:t> </a:t>
                </a:r>
                <a:r>
                  <a:rPr lang="de-DE" sz="6200" dirty="0" err="1"/>
                  <a:t>the</a:t>
                </a:r>
                <a:r>
                  <a:rPr lang="de-DE" sz="6200" dirty="0"/>
                  <a:t> </a:t>
                </a:r>
                <a:r>
                  <a:rPr lang="de-DE" sz="6200" dirty="0" err="1"/>
                  <a:t>results</a:t>
                </a:r>
                <a:endParaRPr lang="de-DE" sz="6200" dirty="0"/>
              </a:p>
              <a:p>
                <a:endParaRPr lang="de-DE" sz="4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6200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e-DE" sz="6200" dirty="0"/>
                  <a:t> </a:t>
                </a:r>
                <a:r>
                  <a:rPr lang="de-DE" sz="6200" dirty="0" err="1"/>
                  <a:t>Uncertainty</a:t>
                </a:r>
                <a:r>
                  <a:rPr lang="de-DE" sz="6200" dirty="0"/>
                  <a:t> </a:t>
                </a:r>
                <a:r>
                  <a:rPr lang="de-DE" sz="6200" dirty="0" err="1"/>
                  <a:t>measures</a:t>
                </a:r>
                <a:r>
                  <a:rPr lang="de-DE" sz="6200" dirty="0"/>
                  <a:t> </a:t>
                </a:r>
                <a:r>
                  <a:rPr lang="de-DE" sz="6200" dirty="0" err="1"/>
                  <a:t>can</a:t>
                </a:r>
                <a:r>
                  <a:rPr lang="de-DE" sz="6200" dirty="0"/>
                  <a:t> </a:t>
                </a:r>
                <a:r>
                  <a:rPr lang="de-DE" sz="6200" dirty="0" err="1"/>
                  <a:t>sometimes</a:t>
                </a:r>
                <a:r>
                  <a:rPr lang="de-DE" sz="6200" dirty="0"/>
                  <a:t> </a:t>
                </a:r>
                <a:r>
                  <a:rPr lang="de-DE" sz="6200" dirty="0" err="1"/>
                  <a:t>drive</a:t>
                </a:r>
                <a:r>
                  <a:rPr lang="de-DE" sz="6200" dirty="0"/>
                  <a:t> a </a:t>
                </a:r>
                <a:r>
                  <a:rPr lang="de-DE" sz="6200" dirty="0" err="1"/>
                  <a:t>useful</a:t>
                </a:r>
                <a:r>
                  <a:rPr lang="de-DE" sz="6200" dirty="0"/>
                  <a:t> </a:t>
                </a:r>
                <a:br>
                  <a:rPr lang="de-DE" sz="6200" dirty="0"/>
                </a:br>
                <a:r>
                  <a:rPr lang="de-DE" sz="6200" dirty="0"/>
                  <a:t>     </a:t>
                </a:r>
                <a:r>
                  <a:rPr lang="de-DE" sz="6200" dirty="0" err="1"/>
                  <a:t>policy</a:t>
                </a:r>
                <a:r>
                  <a:rPr lang="de-DE" sz="6200" dirty="0"/>
                  <a:t> and </a:t>
                </a:r>
                <a:r>
                  <a:rPr lang="de-DE" sz="6200" dirty="0" err="1"/>
                  <a:t>improve</a:t>
                </a:r>
                <a:r>
                  <a:rPr lang="de-DE" sz="6200" dirty="0"/>
                  <a:t> </a:t>
                </a:r>
                <a:r>
                  <a:rPr lang="de-DE" sz="6200" dirty="0" err="1"/>
                  <a:t>model</a:t>
                </a:r>
                <a:r>
                  <a:rPr lang="de-DE" sz="6200" dirty="0"/>
                  <a:t> </a:t>
                </a:r>
                <a:r>
                  <a:rPr lang="de-DE" sz="6200" dirty="0" err="1"/>
                  <a:t>performance</a:t>
                </a:r>
                <a:endParaRPr lang="de-DE" sz="6200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1165E3F-E3AC-1A7B-A5A4-D1DAB26607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366536" cy="4351338"/>
              </a:xfrm>
              <a:blipFill>
                <a:blip r:embed="rId2"/>
                <a:stretch>
                  <a:fillRect l="-862" t="-2381" r="-76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FD1DBE-6F0E-07EB-17D4-821C657D8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6</a:t>
            </a:fld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F4D2C2CB-5893-AD70-88AB-62828AD9BC54}"/>
              </a:ext>
            </a:extLst>
          </p:cNvPr>
          <p:cNvGrpSpPr/>
          <p:nvPr/>
        </p:nvGrpSpPr>
        <p:grpSpPr>
          <a:xfrm>
            <a:off x="7204736" y="450082"/>
            <a:ext cx="4735876" cy="5726881"/>
            <a:chOff x="7186325" y="236744"/>
            <a:chExt cx="4735876" cy="5726881"/>
          </a:xfrm>
        </p:grpSpPr>
        <p:pic>
          <p:nvPicPr>
            <p:cNvPr id="8" name="Grafik 7" descr="Ein Bild, das Reihe, Text, Diagramm, Steigung enthält.&#10;&#10;KI-generierte Inhalte können fehlerhaft sein.">
              <a:extLst>
                <a:ext uri="{FF2B5EF4-FFF2-40B4-BE49-F238E27FC236}">
                  <a16:creationId xmlns:a16="http://schemas.microsoft.com/office/drawing/2014/main" id="{B8E7278A-D4B7-4A29-2071-E4318EB9E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6325" y="236744"/>
              <a:ext cx="4735876" cy="2852937"/>
            </a:xfrm>
            <a:prstGeom prst="rect">
              <a:avLst/>
            </a:prstGeom>
          </p:spPr>
        </p:pic>
        <p:pic>
          <p:nvPicPr>
            <p:cNvPr id="10" name="Grafik 9" descr="Ein Bild, das Diagramm, Text, Reihe, Zahl enthält.&#10;&#10;KI-generierte Inhalte können fehlerhaft sein.">
              <a:extLst>
                <a:ext uri="{FF2B5EF4-FFF2-40B4-BE49-F238E27FC236}">
                  <a16:creationId xmlns:a16="http://schemas.microsoft.com/office/drawing/2014/main" id="{33CE0E3D-1BD7-6AC8-E8AE-56D2DB1F9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6325" y="3269069"/>
              <a:ext cx="4490926" cy="2694556"/>
            </a:xfrm>
            <a:prstGeom prst="rect">
              <a:avLst/>
            </a:prstGeom>
          </p:spPr>
        </p:pic>
      </p:grpSp>
      <p:sp>
        <p:nvSpPr>
          <p:cNvPr id="5" name="Textfeld 4">
            <a:extLst>
              <a:ext uri="{FF2B5EF4-FFF2-40B4-BE49-F238E27FC236}">
                <a16:creationId xmlns:a16="http://schemas.microsoft.com/office/drawing/2014/main" id="{5C6AB6A6-02B9-BA66-A2A9-7A5BFC953E54}"/>
              </a:ext>
            </a:extLst>
          </p:cNvPr>
          <p:cNvSpPr txBox="1"/>
          <p:nvPr/>
        </p:nvSpPr>
        <p:spPr>
          <a:xfrm>
            <a:off x="340065" y="6248147"/>
            <a:ext cx="26598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* All </a:t>
            </a:r>
            <a:r>
              <a:rPr lang="de-DE" sz="1200" dirty="0" err="1"/>
              <a:t>Figures</a:t>
            </a:r>
            <a:r>
              <a:rPr lang="de-DE" sz="1200" dirty="0"/>
              <a:t> </a:t>
            </a:r>
            <a:r>
              <a:rPr lang="de-DE" sz="1200" dirty="0" err="1"/>
              <a:t>based</a:t>
            </a:r>
            <a:r>
              <a:rPr lang="de-DE" sz="1200" dirty="0"/>
              <a:t> on FLAN-T5-base</a:t>
            </a:r>
          </a:p>
        </p:txBody>
      </p:sp>
    </p:spTree>
    <p:extLst>
      <p:ext uri="{BB962C8B-B14F-4D97-AF65-F5344CB8AC3E}">
        <p14:creationId xmlns:p14="http://schemas.microsoft.com/office/powerpoint/2010/main" val="420994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D0F2C7-F97D-92FB-53EE-8F07ED5D8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Further </a:t>
            </a:r>
            <a:r>
              <a:rPr lang="de-DE" dirty="0" err="1"/>
              <a:t>Thoughts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0530BA-9623-462E-D3A9-59F164CFD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8285" cy="4351338"/>
          </a:xfrm>
        </p:spPr>
        <p:txBody>
          <a:bodyPr>
            <a:normAutofit/>
          </a:bodyPr>
          <a:lstStyle/>
          <a:p>
            <a:r>
              <a:rPr lang="de-DE" sz="2400" dirty="0"/>
              <a:t>Performance </a:t>
            </a:r>
            <a:r>
              <a:rPr lang="de-DE" sz="2400" dirty="0" err="1"/>
              <a:t>might</a:t>
            </a:r>
            <a:r>
              <a:rPr lang="de-DE" sz="2400" dirty="0"/>
              <a:t> not </a:t>
            </a:r>
            <a:r>
              <a:rPr lang="de-DE" sz="2400" dirty="0" err="1"/>
              <a:t>be</a:t>
            </a:r>
            <a:r>
              <a:rPr lang="de-DE" sz="2400" dirty="0"/>
              <a:t> </a:t>
            </a:r>
            <a:r>
              <a:rPr lang="de-DE" sz="2400" dirty="0" err="1"/>
              <a:t>better</a:t>
            </a:r>
            <a:r>
              <a:rPr lang="de-DE" sz="2400" dirty="0"/>
              <a:t> for </a:t>
            </a:r>
            <a:r>
              <a:rPr lang="de-DE" sz="2400" dirty="0" err="1"/>
              <a:t>bigger</a:t>
            </a:r>
            <a:r>
              <a:rPr lang="de-DE" sz="2400" dirty="0"/>
              <a:t> </a:t>
            </a:r>
            <a:r>
              <a:rPr lang="de-DE" sz="2400" dirty="0" err="1"/>
              <a:t>models</a:t>
            </a:r>
            <a:endParaRPr lang="de-DE" sz="2400" dirty="0"/>
          </a:p>
          <a:p>
            <a:r>
              <a:rPr lang="de-DE" sz="2400" dirty="0" err="1"/>
              <a:t>Predicted</a:t>
            </a:r>
            <a:r>
              <a:rPr lang="de-DE" sz="2400" dirty="0"/>
              <a:t> </a:t>
            </a:r>
            <a:r>
              <a:rPr lang="de-DE" sz="2400" dirty="0" err="1"/>
              <a:t>correctness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a </a:t>
            </a:r>
            <a:r>
              <a:rPr lang="de-DE" sz="2400" dirty="0" err="1"/>
              <a:t>clarification</a:t>
            </a:r>
            <a:r>
              <a:rPr lang="de-DE" sz="2400" dirty="0"/>
              <a:t> </a:t>
            </a:r>
            <a:r>
              <a:rPr lang="de-DE" sz="2400" dirty="0" err="1"/>
              <a:t>is</a:t>
            </a:r>
            <a:r>
              <a:rPr lang="de-DE" sz="2400" dirty="0"/>
              <a:t> not </a:t>
            </a:r>
            <a:r>
              <a:rPr lang="de-DE" sz="2400" dirty="0" err="1"/>
              <a:t>well</a:t>
            </a:r>
            <a:r>
              <a:rPr lang="de-DE" sz="2400" dirty="0"/>
              <a:t> </a:t>
            </a:r>
            <a:r>
              <a:rPr lang="de-DE" sz="2400" dirty="0" err="1"/>
              <a:t>calibrated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empirical</a:t>
            </a:r>
            <a:r>
              <a:rPr lang="de-DE" sz="2400" dirty="0"/>
              <a:t> </a:t>
            </a:r>
            <a:r>
              <a:rPr lang="de-DE" sz="2400" dirty="0" err="1"/>
              <a:t>correctness</a:t>
            </a:r>
            <a:endParaRPr lang="de-DE" sz="2400" dirty="0"/>
          </a:p>
          <a:p>
            <a:r>
              <a:rPr lang="de-DE" sz="2400" dirty="0" err="1"/>
              <a:t>Some</a:t>
            </a:r>
            <a:r>
              <a:rPr lang="de-DE" sz="2400" dirty="0"/>
              <a:t> </a:t>
            </a:r>
            <a:r>
              <a:rPr lang="de-DE" sz="2400" dirty="0" err="1"/>
              <a:t>samples</a:t>
            </a:r>
            <a:r>
              <a:rPr lang="de-DE" sz="2400" dirty="0"/>
              <a:t> </a:t>
            </a:r>
            <a:r>
              <a:rPr lang="de-DE" sz="2400" dirty="0" err="1"/>
              <a:t>have</a:t>
            </a:r>
            <a:r>
              <a:rPr lang="de-DE" sz="2400" dirty="0"/>
              <a:t> a </a:t>
            </a:r>
            <a:r>
              <a:rPr lang="de-DE" sz="2400" dirty="0" err="1"/>
              <a:t>small</a:t>
            </a:r>
            <a:r>
              <a:rPr lang="de-DE" sz="2400" dirty="0"/>
              <a:t> </a:t>
            </a:r>
            <a:r>
              <a:rPr lang="de-DE" sz="2400" dirty="0" err="1"/>
              <a:t>uncertainty</a:t>
            </a:r>
            <a:r>
              <a:rPr lang="de-DE" sz="2400" dirty="0"/>
              <a:t>, but </a:t>
            </a:r>
            <a:r>
              <a:rPr lang="de-DE" sz="2400" dirty="0" err="1"/>
              <a:t>tend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be</a:t>
            </a:r>
            <a:r>
              <a:rPr lang="de-DE" sz="2400" dirty="0"/>
              <a:t> </a:t>
            </a:r>
            <a:r>
              <a:rPr lang="de-DE" sz="2400" dirty="0" err="1"/>
              <a:t>wrongly</a:t>
            </a:r>
            <a:r>
              <a:rPr lang="de-DE" sz="2400" dirty="0"/>
              <a:t> </a:t>
            </a:r>
            <a:r>
              <a:rPr lang="de-DE" sz="2400" dirty="0" err="1"/>
              <a:t>answered</a:t>
            </a:r>
            <a:r>
              <a:rPr lang="de-DE" sz="2400" dirty="0"/>
              <a:t> (</a:t>
            </a:r>
            <a:r>
              <a:rPr lang="de-DE" sz="2400" dirty="0" err="1"/>
              <a:t>overconfidence</a:t>
            </a:r>
            <a:r>
              <a:rPr lang="de-DE" sz="2400" dirty="0"/>
              <a:t>)</a:t>
            </a:r>
          </a:p>
          <a:p>
            <a:r>
              <a:rPr lang="de-DE" sz="2400" dirty="0"/>
              <a:t>Analyze </a:t>
            </a:r>
            <a:r>
              <a:rPr lang="de-DE" sz="2400" dirty="0" err="1"/>
              <a:t>more</a:t>
            </a:r>
            <a:r>
              <a:rPr lang="de-DE" sz="2400" dirty="0"/>
              <a:t> </a:t>
            </a:r>
            <a:r>
              <a:rPr lang="de-DE" sz="2400" dirty="0" err="1"/>
              <a:t>models</a:t>
            </a:r>
            <a:r>
              <a:rPr lang="de-DE" sz="2400" dirty="0"/>
              <a:t> and </a:t>
            </a:r>
            <a:r>
              <a:rPr lang="de-DE" sz="2400" dirty="0" err="1"/>
              <a:t>variations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clarify</a:t>
            </a:r>
            <a:r>
              <a:rPr lang="de-DE" sz="2400" dirty="0"/>
              <a:t> </a:t>
            </a:r>
            <a:r>
              <a:rPr lang="de-DE" sz="2400" dirty="0" err="1"/>
              <a:t>whether</a:t>
            </a:r>
            <a:r>
              <a:rPr lang="de-DE" sz="2400" dirty="0"/>
              <a:t> </a:t>
            </a:r>
            <a:r>
              <a:rPr lang="de-DE" sz="2400" dirty="0" err="1"/>
              <a:t>results</a:t>
            </a:r>
            <a:r>
              <a:rPr lang="de-DE" sz="2400" dirty="0"/>
              <a:t> for FLAN-T5-base </a:t>
            </a:r>
            <a:r>
              <a:rPr lang="de-DE" sz="2400" dirty="0" err="1"/>
              <a:t>or</a:t>
            </a:r>
            <a:r>
              <a:rPr lang="de-DE" sz="2400" dirty="0"/>
              <a:t> FLAN-T5-large/GPT2 </a:t>
            </a:r>
            <a:r>
              <a:rPr lang="de-DE" sz="2400" dirty="0" err="1"/>
              <a:t>are</a:t>
            </a:r>
            <a:r>
              <a:rPr lang="de-DE" sz="2400" dirty="0"/>
              <a:t> </a:t>
            </a:r>
            <a:r>
              <a:rPr lang="de-DE" sz="2400" dirty="0" err="1"/>
              <a:t>outliers</a:t>
            </a:r>
            <a:endParaRPr lang="de-DE" sz="2400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70A52B-B1A0-36E2-8E9C-A75526EA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7</a:t>
            </a:fld>
            <a:endParaRPr lang="de-DE"/>
          </a:p>
        </p:txBody>
      </p:sp>
      <p:pic>
        <p:nvPicPr>
          <p:cNvPr id="6" name="Grafik 5" descr="Ein Bild, das Diagramm, Reihe, Text enthält.&#10;&#10;KI-generierte Inhalte können fehlerhaft sein.">
            <a:extLst>
              <a:ext uri="{FF2B5EF4-FFF2-40B4-BE49-F238E27FC236}">
                <a16:creationId xmlns:a16="http://schemas.microsoft.com/office/drawing/2014/main" id="{1D5A76FD-01CD-2CC4-6111-D244A2B5D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485" y="365125"/>
            <a:ext cx="5261389" cy="3156834"/>
          </a:xfrm>
          <a:prstGeom prst="rect">
            <a:avLst/>
          </a:prstGeom>
        </p:spPr>
      </p:pic>
      <p:pic>
        <p:nvPicPr>
          <p:cNvPr id="8" name="Grafik 7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EA7B0A05-5E17-89C7-A3B7-2EAA368DF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068" y="3302190"/>
            <a:ext cx="5317806" cy="3190684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3032F5A-3EA4-3A5E-3DD6-A2532554F9ED}"/>
              </a:ext>
            </a:extLst>
          </p:cNvPr>
          <p:cNvSpPr txBox="1"/>
          <p:nvPr/>
        </p:nvSpPr>
        <p:spPr>
          <a:xfrm>
            <a:off x="340065" y="6248147"/>
            <a:ext cx="25893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* All </a:t>
            </a:r>
            <a:r>
              <a:rPr lang="de-DE" sz="1200" dirty="0" err="1"/>
              <a:t>Figures</a:t>
            </a:r>
            <a:r>
              <a:rPr lang="de-DE" sz="1200" dirty="0"/>
              <a:t> </a:t>
            </a:r>
            <a:r>
              <a:rPr lang="de-DE" sz="1200" dirty="0" err="1"/>
              <a:t>based</a:t>
            </a:r>
            <a:r>
              <a:rPr lang="de-DE" sz="1200" dirty="0"/>
              <a:t> on FLAN-T5-base</a:t>
            </a:r>
          </a:p>
        </p:txBody>
      </p:sp>
    </p:spTree>
    <p:extLst>
      <p:ext uri="{BB962C8B-B14F-4D97-AF65-F5344CB8AC3E}">
        <p14:creationId xmlns:p14="http://schemas.microsoft.com/office/powerpoint/2010/main" val="2278428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447BD8-167F-6D68-F346-39F60E97F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Bibliography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10BAB9-4A0F-E88F-D2DA-B4BA39629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sz="2600" dirty="0">
                <a:hlinkClick r:id="rId2"/>
              </a:rPr>
              <a:t>Lei Huang et al., A Survey on </a:t>
            </a:r>
            <a:r>
              <a:rPr lang="de-DE" sz="2600" dirty="0" err="1">
                <a:hlinkClick r:id="rId2"/>
              </a:rPr>
              <a:t>Hallucination</a:t>
            </a:r>
            <a:r>
              <a:rPr lang="de-DE" sz="2600" dirty="0">
                <a:hlinkClick r:id="rId2"/>
              </a:rPr>
              <a:t> in Large Language Models: </a:t>
            </a:r>
            <a:r>
              <a:rPr lang="de-DE" sz="2600" dirty="0" err="1">
                <a:hlinkClick r:id="rId2"/>
              </a:rPr>
              <a:t>Principles</a:t>
            </a:r>
            <a:r>
              <a:rPr lang="de-DE" sz="2600" dirty="0">
                <a:hlinkClick r:id="rId2"/>
              </a:rPr>
              <a:t>, </a:t>
            </a:r>
            <a:r>
              <a:rPr lang="de-DE" sz="2600" dirty="0" err="1">
                <a:hlinkClick r:id="rId2"/>
              </a:rPr>
              <a:t>Taxonomy</a:t>
            </a:r>
            <a:r>
              <a:rPr lang="de-DE" sz="2600" dirty="0">
                <a:hlinkClick r:id="rId2"/>
              </a:rPr>
              <a:t>, Challenges, and Open Questions, </a:t>
            </a:r>
            <a:r>
              <a:rPr lang="de-DE" sz="2600" i="1" dirty="0">
                <a:hlinkClick r:id="rId2"/>
              </a:rPr>
              <a:t>ACM Transactions on Information Systems 43</a:t>
            </a:r>
            <a:r>
              <a:rPr lang="de-DE" sz="2600" dirty="0">
                <a:hlinkClick r:id="rId2"/>
              </a:rPr>
              <a:t>, 1-55, 2024 </a:t>
            </a:r>
            <a:endParaRPr lang="de-DE" sz="2600" dirty="0"/>
          </a:p>
          <a:p>
            <a:pPr marL="514350" indent="-514350">
              <a:buFont typeface="+mj-lt"/>
              <a:buAutoNum type="arabicPeriod"/>
            </a:pPr>
            <a:r>
              <a:rPr lang="de-DE" sz="2600" dirty="0">
                <a:hlinkClick r:id="rId3"/>
              </a:rPr>
              <a:t>Sebastian Farquhar et al., </a:t>
            </a:r>
            <a:r>
              <a:rPr lang="de-DE" sz="2600" dirty="0" err="1">
                <a:hlinkClick r:id="rId3"/>
              </a:rPr>
              <a:t>Detecting</a:t>
            </a:r>
            <a:r>
              <a:rPr lang="de-DE" sz="2600" dirty="0">
                <a:hlinkClick r:id="rId3"/>
              </a:rPr>
              <a:t> </a:t>
            </a:r>
            <a:r>
              <a:rPr lang="de-DE" sz="2600" dirty="0" err="1">
                <a:hlinkClick r:id="rId3"/>
              </a:rPr>
              <a:t>hallucinations</a:t>
            </a:r>
            <a:r>
              <a:rPr lang="de-DE" sz="2600" dirty="0">
                <a:hlinkClick r:id="rId3"/>
              </a:rPr>
              <a:t> in large </a:t>
            </a:r>
            <a:r>
              <a:rPr lang="de-DE" sz="2600" dirty="0" err="1">
                <a:hlinkClick r:id="rId3"/>
              </a:rPr>
              <a:t>language</a:t>
            </a:r>
            <a:r>
              <a:rPr lang="de-DE" sz="2600" dirty="0">
                <a:hlinkClick r:id="rId3"/>
              </a:rPr>
              <a:t> </a:t>
            </a:r>
            <a:r>
              <a:rPr lang="de-DE" sz="2600" dirty="0" err="1">
                <a:hlinkClick r:id="rId3"/>
              </a:rPr>
              <a:t>models</a:t>
            </a:r>
            <a:r>
              <a:rPr lang="de-DE" sz="2600" dirty="0">
                <a:hlinkClick r:id="rId3"/>
              </a:rPr>
              <a:t> </a:t>
            </a:r>
            <a:r>
              <a:rPr lang="de-DE" sz="2600" dirty="0" err="1">
                <a:hlinkClick r:id="rId3"/>
              </a:rPr>
              <a:t>using</a:t>
            </a:r>
            <a:r>
              <a:rPr lang="de-DE" sz="2600" dirty="0">
                <a:hlinkClick r:id="rId3"/>
              </a:rPr>
              <a:t> </a:t>
            </a:r>
            <a:r>
              <a:rPr lang="de-DE" sz="2600" dirty="0" err="1">
                <a:hlinkClick r:id="rId3"/>
              </a:rPr>
              <a:t>semantic</a:t>
            </a:r>
            <a:r>
              <a:rPr lang="de-DE" sz="2600" dirty="0">
                <a:hlinkClick r:id="rId3"/>
              </a:rPr>
              <a:t> </a:t>
            </a:r>
            <a:r>
              <a:rPr lang="de-DE" sz="2600" dirty="0" err="1">
                <a:hlinkClick r:id="rId3"/>
              </a:rPr>
              <a:t>entropy</a:t>
            </a:r>
            <a:r>
              <a:rPr lang="de-DE" sz="2600" dirty="0">
                <a:hlinkClick r:id="rId3"/>
              </a:rPr>
              <a:t>, </a:t>
            </a:r>
            <a:r>
              <a:rPr lang="de-DE" sz="2600" i="1" dirty="0">
                <a:hlinkClick r:id="rId3"/>
              </a:rPr>
              <a:t>Nature</a:t>
            </a:r>
            <a:r>
              <a:rPr lang="de-DE" sz="2600" dirty="0">
                <a:hlinkClick r:id="rId3"/>
              </a:rPr>
              <a:t> 630, 625–630, 2024</a:t>
            </a:r>
            <a:endParaRPr lang="de-DE" sz="2600" dirty="0"/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hlinkClick r:id="rId4"/>
              </a:rPr>
              <a:t>Ji Xin et al., The Art of Abstention: Selective Prediction and Error Regularization for Natural Language Processing, 2021</a:t>
            </a:r>
            <a:endParaRPr lang="en-US" sz="2600" dirty="0"/>
          </a:p>
          <a:p>
            <a:pPr marL="514350" indent="-514350">
              <a:buFont typeface="+mj-lt"/>
              <a:buAutoNum type="arabicPeriod"/>
            </a:pPr>
            <a:r>
              <a:rPr lang="de-DE" sz="2600" dirty="0">
                <a:hlinkClick r:id="rId5"/>
              </a:rPr>
              <a:t>Chinmaya </a:t>
            </a:r>
            <a:r>
              <a:rPr lang="de-DE" sz="2600" dirty="0" err="1">
                <a:hlinkClick r:id="rId5"/>
              </a:rPr>
              <a:t>Andukuri</a:t>
            </a:r>
            <a:r>
              <a:rPr lang="de-DE" sz="2600" dirty="0">
                <a:hlinkClick r:id="rId5"/>
              </a:rPr>
              <a:t> et al., </a:t>
            </a:r>
            <a:r>
              <a:rPr lang="de-DE" sz="2600" dirty="0" err="1">
                <a:hlinkClick r:id="rId5"/>
              </a:rPr>
              <a:t>STaR</a:t>
            </a:r>
            <a:r>
              <a:rPr lang="de-DE" sz="2600" dirty="0">
                <a:hlinkClick r:id="rId5"/>
              </a:rPr>
              <a:t>-GATE: Teaching Language Models </a:t>
            </a:r>
            <a:r>
              <a:rPr lang="de-DE" sz="2600" dirty="0" err="1">
                <a:hlinkClick r:id="rId5"/>
              </a:rPr>
              <a:t>to</a:t>
            </a:r>
            <a:r>
              <a:rPr lang="de-DE" sz="2600" dirty="0">
                <a:hlinkClick r:id="rId5"/>
              </a:rPr>
              <a:t> Ask </a:t>
            </a:r>
            <a:r>
              <a:rPr lang="de-DE" sz="2600" dirty="0" err="1">
                <a:hlinkClick r:id="rId5"/>
              </a:rPr>
              <a:t>Clarifying</a:t>
            </a:r>
            <a:r>
              <a:rPr lang="de-DE" sz="2600" dirty="0">
                <a:hlinkClick r:id="rId5"/>
              </a:rPr>
              <a:t> Questions, 2024</a:t>
            </a:r>
            <a:endParaRPr lang="de-DE" sz="2600" dirty="0"/>
          </a:p>
          <a:p>
            <a:pPr marL="514350" indent="-514350">
              <a:buFont typeface="+mj-lt"/>
              <a:buAutoNum type="arabicPeriod"/>
            </a:pPr>
            <a:r>
              <a:rPr lang="de-DE" sz="2600" dirty="0">
                <a:hlinkClick r:id="rId6"/>
              </a:rPr>
              <a:t>James Thorne et al., FEVER: a Large-</a:t>
            </a:r>
            <a:r>
              <a:rPr lang="de-DE" sz="2600" dirty="0" err="1">
                <a:hlinkClick r:id="rId6"/>
              </a:rPr>
              <a:t>scale</a:t>
            </a:r>
            <a:r>
              <a:rPr lang="de-DE" sz="2600" dirty="0">
                <a:hlinkClick r:id="rId6"/>
              </a:rPr>
              <a:t> Dataset for Fact </a:t>
            </a:r>
            <a:r>
              <a:rPr lang="de-DE" sz="2600" dirty="0" err="1">
                <a:hlinkClick r:id="rId6"/>
              </a:rPr>
              <a:t>Extraction</a:t>
            </a:r>
            <a:r>
              <a:rPr lang="de-DE" sz="2600" dirty="0">
                <a:hlinkClick r:id="rId6"/>
              </a:rPr>
              <a:t> and </a:t>
            </a:r>
            <a:r>
              <a:rPr lang="de-DE" sz="2600" dirty="0" err="1">
                <a:hlinkClick r:id="rId6"/>
              </a:rPr>
              <a:t>VERification</a:t>
            </a:r>
            <a:r>
              <a:rPr lang="de-DE" sz="2600" dirty="0">
                <a:hlinkClick r:id="rId6"/>
              </a:rPr>
              <a:t>, 2018</a:t>
            </a:r>
            <a:endParaRPr lang="de-DE" sz="2600" dirty="0"/>
          </a:p>
          <a:p>
            <a:pPr marL="514350" indent="-514350">
              <a:buFont typeface="+mj-lt"/>
              <a:buAutoNum type="arabicPeriod"/>
            </a:pPr>
            <a:r>
              <a:rPr lang="de-DE" sz="2600" dirty="0">
                <a:hlinkClick r:id="rId7"/>
              </a:rPr>
              <a:t>Hyung Won Chung et al., </a:t>
            </a:r>
            <a:r>
              <a:rPr lang="de-DE" sz="2600" dirty="0" err="1">
                <a:hlinkClick r:id="rId7"/>
              </a:rPr>
              <a:t>Scaling</a:t>
            </a:r>
            <a:r>
              <a:rPr lang="de-DE" sz="2600" dirty="0">
                <a:hlinkClick r:id="rId7"/>
              </a:rPr>
              <a:t> </a:t>
            </a:r>
            <a:r>
              <a:rPr lang="de-DE" sz="2600" dirty="0" err="1">
                <a:hlinkClick r:id="rId7"/>
              </a:rPr>
              <a:t>Instruction-Finetuned</a:t>
            </a:r>
            <a:r>
              <a:rPr lang="de-DE" sz="2600" dirty="0">
                <a:hlinkClick r:id="rId7"/>
              </a:rPr>
              <a:t> Language Models, 2022</a:t>
            </a:r>
            <a:endParaRPr lang="de-DE" sz="2600" dirty="0"/>
          </a:p>
          <a:p>
            <a:pPr marL="514350" indent="-514350">
              <a:buFont typeface="+mj-lt"/>
              <a:buAutoNum type="arabicPeriod"/>
            </a:pPr>
            <a:r>
              <a:rPr lang="de-DE" sz="2600" dirty="0">
                <a:hlinkClick r:id="rId8"/>
              </a:rPr>
              <a:t>Alec Redford et al., Language Models </a:t>
            </a:r>
            <a:r>
              <a:rPr lang="de-DE" sz="2600" dirty="0" err="1">
                <a:hlinkClick r:id="rId8"/>
              </a:rPr>
              <a:t>are</a:t>
            </a:r>
            <a:r>
              <a:rPr lang="de-DE" sz="2600" dirty="0">
                <a:hlinkClick r:id="rId8"/>
              </a:rPr>
              <a:t> </a:t>
            </a:r>
            <a:r>
              <a:rPr lang="de-DE" sz="2600" dirty="0" err="1">
                <a:hlinkClick r:id="rId8"/>
              </a:rPr>
              <a:t>Unsupervised</a:t>
            </a:r>
            <a:r>
              <a:rPr lang="de-DE" sz="2600" dirty="0">
                <a:hlinkClick r:id="rId8"/>
              </a:rPr>
              <a:t> Multitask </a:t>
            </a:r>
            <a:r>
              <a:rPr lang="de-DE" sz="2600" dirty="0" err="1">
                <a:hlinkClick r:id="rId8"/>
              </a:rPr>
              <a:t>Learners</a:t>
            </a:r>
            <a:r>
              <a:rPr lang="de-DE" sz="2600" dirty="0">
                <a:hlinkClick r:id="rId8"/>
              </a:rPr>
              <a:t>, 2019</a:t>
            </a:r>
            <a:endParaRPr lang="de-DE" sz="2600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02B608-F247-923D-68D1-49DA9A83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09C07-968D-4E53-A510-F5CC0821538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9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e821cde-48ad-4065-9a7a-ac3e26dfc9d5}" enabled="1" method="Privileged" siteId="{763b2760-45c5-46d3-883e-29705bba49b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</Words>
  <Application>Microsoft Office PowerPoint</Application>
  <PresentationFormat>Breitbild</PresentationFormat>
  <Paragraphs>102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</vt:lpstr>
      <vt:lpstr>Uncertainty-Aware Hallucination Detection and Clarifying-Question Policy for LLMs</vt:lpstr>
      <vt:lpstr>Motivation</vt:lpstr>
      <vt:lpstr>Dataset and Setup</vt:lpstr>
      <vt:lpstr>Method</vt:lpstr>
      <vt:lpstr>Results</vt:lpstr>
      <vt:lpstr>Results</vt:lpstr>
      <vt:lpstr>Further Thoughts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Jakob Maisch</dc:creator>
  <cp:lastModifiedBy>Jakob Maisch</cp:lastModifiedBy>
  <cp:revision>21</cp:revision>
  <dcterms:created xsi:type="dcterms:W3CDTF">2025-10-15T14:23:23Z</dcterms:created>
  <dcterms:modified xsi:type="dcterms:W3CDTF">2025-12-03T07:24:51Z</dcterms:modified>
</cp:coreProperties>
</file>